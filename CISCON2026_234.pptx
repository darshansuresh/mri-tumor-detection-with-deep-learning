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1" r:id="rId5"/>
    <p:sldId id="286" r:id="rId6"/>
    <p:sldId id="291" r:id="rId7"/>
    <p:sldId id="284" r:id="rId8"/>
    <p:sldId id="287" r:id="rId9"/>
    <p:sldId id="293" r:id="rId10"/>
    <p:sldId id="294" r:id="rId11"/>
    <p:sldId id="288" r:id="rId12"/>
    <p:sldId id="296" r:id="rId13"/>
    <p:sldId id="295" r:id="rId14"/>
    <p:sldId id="283" r:id="rId15"/>
    <p:sldId id="289" r:id="rId16"/>
    <p:sldId id="290" r:id="rId17"/>
    <p:sldId id="29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Value (%)</c:v>
                </c:pt>
              </c:strCache>
            </c:strRef>
          </c:tx>
          <c:spPr>
            <a:solidFill>
              <a:srgbClr val="BD582C"/>
            </a:solidFill>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Sheet1!$A$2:$A$6</c:f>
              <c:strCache>
                <c:ptCount val="5"/>
                <c:pt idx="0">
                  <c:v>Accuracy</c:v>
                </c:pt>
                <c:pt idx="1">
                  <c:v>Precision</c:v>
                </c:pt>
                <c:pt idx="2">
                  <c:v>Recall</c:v>
                </c:pt>
                <c:pt idx="3">
                  <c:v>F1-Score</c:v>
                </c:pt>
                <c:pt idx="4">
                  <c:v>AUC</c:v>
                </c:pt>
              </c:strCache>
            </c:strRef>
          </c:cat>
          <c:val>
            <c:numRef>
              <c:f>Sheet1!$B$2:$B$6</c:f>
              <c:numCache>
                <c:formatCode>General</c:formatCode>
                <c:ptCount val="5"/>
                <c:pt idx="0">
                  <c:v>98.5</c:v>
                </c:pt>
                <c:pt idx="1">
                  <c:v>99.4</c:v>
                </c:pt>
                <c:pt idx="2">
                  <c:v>94.2</c:v>
                </c:pt>
                <c:pt idx="3">
                  <c:v>96.7</c:v>
                </c:pt>
                <c:pt idx="4">
                  <c:v>99</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12700" cap="flat" cmpd="sng" algn="ctr">
            <a:solidFill>
              <a:srgbClr val="CCCCCC"/>
            </a:solidFill>
            <a:prstDash val="solid"/>
            <a:round/>
          </a:ln>
        </c:spPr>
        <c:txPr>
          <a:bodyPr rot="-60000000" spcFirstLastPara="0" vertOverflow="ellipsis" vert="horz" wrap="square" anchor="ctr" anchorCtr="1"/>
          <a:lstStyle/>
          <a:p>
            <a:pPr>
              <a:defRPr lang="en-US" sz="11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85"/>
        </c:scaling>
        <c:delete val="0"/>
        <c:axPos val="l"/>
        <c:numFmt formatCode="General" sourceLinked="1"/>
        <c:majorTickMark val="out"/>
        <c:minorTickMark val="none"/>
        <c:tickLblPos val="nextTo"/>
        <c:txPr>
          <a:bodyPr rot="-6000000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3ae5cb79-27c3-4f0b-8088-09c7ea6fab67}"/>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E7965-E215-49B6-9555-916FA928592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F7CAC0-4ED7-4326-9C01-3F1CAAE2A1B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respected session chair, distinguished professors, researchers, and fellow participants. I am Darshan Suresh from the Department of Computer Science, Amrita School of Computing, Amrita Vishwa Vidyapeetham, Mysuru. Today I present our work, 'Deep Learning Driven Brain Tumor Detection Using ResNet50-ResUNet.' Brain tumors are among the most serious neurological diseases, and accurate MRI-based diagnosis directly affects treatment planning and survival. However, manual interpretation is time-consuming and expertise-dependent. We propose a two-stage deep learning framework: ResNet50 first determines whether a scan contains a tumor, and ResUNet then segments the tumor boundary - giving both detection and localization in one pipeline.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Here is the outline for today's talk - starting with the clinical motivation, moving through the literature gap our work addresses, the proposed two-stage methodology, our experimental results and comparisons, and closing with applications, limitations and future scope.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Brain tumors are one of the most challenging neurological diseases because accurate diagnosis directly influences treatment planning and patient survival. MRI is widely used because it visualizes soft tissue with high resolution without ionizing radiation. But manual interpretation is time-consuming and depends heavily on radiologist expertise - a growing burden as imaging volumes rise. Prior deep learning work tends to solve only classification or only segmentation, and rarely reports statistical validation. Our framework integrates both stages and validates results across repeated runs. To be clear - our goal is not to replace radiologists, but to act as an intelligent assistant that highlights suspicious regions so clinicians can focus on diagnosis and treatment planning.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Numerous deep learning models have been proposed for brain tumor analysis. Some focus only on classification - whether a scan has a tumor; others focus only on segmentation - outlining the tumor boundary. Individually these have shown promise, but they solve only one part of the diagnostic process. Another gap in the literature is that many studies report high accuracy but give limited evidence of consistency and reproducibility. Our work addresses both limitations by integrating classification and segmentation in one framework and validating it through repeated experimental runs.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objectives are five-fold: build an integrated ResNet50-ResUNet framework that both detects and localizes tumors; use transfer learning to make the most of a limited MRI dataset; apply preprocessing and augmentation for robustness; evaluate comprehensively with both classification and segmentation metrics; and statistically validate the results through repeated runs and confidence intervals - so the reported performance can be trusted as reproducible, not a one-off result.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system is a two-stage deep learning pipeline. The process begins with an MRI image, preprocessed for consistency, then passed to ResNet50 for binary classification - tumor or non-tumor. If no tumor is found, the workflow ends, avoiding unnecessary computation. If a tumor is detected, the image moves to ResUNet, which performs pixel-wise segmentation to generate a tumor mask, giving the exact location and boundary. So our contribution isn't just detecting tumors - it's combining detection and localization within a single workflow, the way airport security screens all baggage quickly and only inspects suspicious bags in detail.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experiments used 3,929 MRI images spanning glioma, meningioma, pituitary tumor and non-tumor categories from Kaggle Brain MRI and BraTS. Since MRI images from different sources vary in brightness, contrast and noise, we resized, normalized, contrast-enhanced, denoised with Gaussian filtering, and removed corrupted images before training. We then applied augmentations - rotation, flips, zoom, shifts, brightness changes and noise injection - to simulate real-world acquisition variation and reduce overfitting, especially important given the limited size of medical imaging datasets.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ResNet50 performs tumor classification using transfer learning from ImageNet, with residual learning easing the training of deep networks. Once a tumor is detected, ResUNet - combining U-Net's encoder-decoder structure with residual learning - generates a precise pixel-wise tumor mask, with skip connections preserving spatial detail lost during downsampling. Both models were trained with the Adam optimizer; classification for 45 epochs, segmentation for 90 epochs using Focal Tversky Loss, which handles class imbalance well in medical segmentation. We also used a ReduceLROnPlateau scheduler and early stopping to improve convergence stability and avoid overfitting.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ResNet50 achieved 98.5% accuracy, 99.4% precision - meaning very few false alarms - and 94.2% recall, meaning it catches most true tumor cases, which matters clinically since missing a tumor is far more serious than a false alarm. F1-score of 96.7% and AUC of 99.0% confirm a strong, well-separated classifier. For segmentation, ResUNet achieved a Dice score of 96.7% and IoU of 94.2%, with a low false positive rate of 0.3% and false negative rate of 5.8%. Importantly, we repeated all experiments five times with different random seeds and report the mean - the low standard deviation confirms the framework's results are consistent and reproducible, which is essential for medical AI.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ResNet50 achieved 98.5% accuracy, 99.4% precision - meaning very few false alarms - and 94.2% recall, meaning it catches most true tumor cases, which matters clinically since missing a tumor is far more serious than a false alarm. F1-score of 96.7% and AUC of 99.0% confirm a strong, well-separated classifier. For segmentation, ResUNet achieved a Dice score of 96.7% and IoU of 94.2%, with a low false positive rate of 0.3% and false negative rate of 5.8%. Importantly, we repeated all experiments five times with different random seeds and report the mean - the low standard deviation confirms the framework's results are consistent and reproducible, which is essential for medical AI.</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compared our framework against commonly reported approaches. Conventional CNNs reached about 93.2% accuracy, VGG16 around 94.8%. For segmentation, U-Net achieved a Dice score of 92.5%. Our ResNet50-ResUNet framework reached 98.5% accuracy with a 96.7% Dice score - and, importantly, it's the only approach here that performs both classification and segmentation in one pipeline. We're not claiming universal state-of-the-art performance; the main contribution is this integrated, statistically validated two-stage framework.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Beyond raw performance, this framework is designed to support radiologists - automatically flagging suspicious cases and highlighting tumor regions so clinicians can focus on diagnosis and treatment planning. It fits naturally into hospital radiology departments, telemedicine platforms and rural healthcare settings with limited specialist access. Connecting to this conference's theme of System Monitoring, Optimal and Sustainable Technologies: our framework continuously monitors MRI scans, performs segmentation only when needed for optimal efficiency, and supports sustainable, scalable AI-assisted diagnosis. To be clear, clinical deployment would need further validation - but this demonstrates AI's potential to enhance, not replace, medical expertise.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Every study has limitations. Ours was trained on public datasets and a single imaging modality, and needs multi-center clinical validation before deployment. Looking ahead, promising directions include multi-modal imaging, explainable AI to build clinician trust, vision transformers, federated learning for privacy-preserving collaboration across hospitals, and integration into cloud or hospital PACS systems. To conclude: we presented a two-stage ResNet50-ResUNet framework combining classification and segmentation, achieving strong, statistically validated performance. Its significance lies in reducing diagnostic workload and enabling earlier identification of suspicious cases. AI is not replacing doctors - it is empowering them with faster, more consistent decision support.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These are the core references underpinning our methodology - covering deep learning in medical imaging, residual learning, U-Net and ResUNet architectures, ImageNet transfer learning, and the Focal Tversky loss used in our segmentation stage. The full reference list is available in the paper.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Thank you all for your valuable time and attention. I sincerely appreciate your interest in our work, and I would be happy to answer any questions or receive your valuable suggestions. Artificial Intelligence should not be viewed as a replacement for clinical expertise - it should be seen as a trusted assistant that enhances the speed, consistency and confidence of medical decision-making. Our work is one step toward that vision.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239DBA-F0BF-4A72-B550-B58F82549D14}" type="datetime1">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Slide Number Placeholder 5"/>
          <p:cNvSpPr>
            <a:spLocks noGrp="1"/>
          </p:cNvSpPr>
          <p:nvPr>
            <p:ph type="sldNum" sz="quarter" idx="12"/>
          </p:nvPr>
        </p:nvSpPr>
        <p:spPr/>
        <p:txBody>
          <a:bodyPr/>
          <a:lstStyle/>
          <a:p>
            <a:fld id="{9A621F9B-DC96-4211-830F-F4FD83FDAB92}" type="slidenum">
              <a:rPr lang="en-IN" smtClean="0"/>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93D76F3-16EC-422D-8956-1292847FA6A6}" type="datetime1">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Slide Number Placeholder 5"/>
          <p:cNvSpPr>
            <a:spLocks noGrp="1"/>
          </p:cNvSpPr>
          <p:nvPr>
            <p:ph type="sldNum" sz="quarter" idx="12"/>
          </p:nvPr>
        </p:nvSpPr>
        <p:spPr/>
        <p:txBody>
          <a:bodyPr/>
          <a:lstStyle/>
          <a:p>
            <a:fld id="{9A621F9B-DC96-4211-830F-F4FD83FDAB92}"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10D19893-56CC-4529-92C0-E42307D3C926}" type="datetime1">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Slide Number Placeholder 5"/>
          <p:cNvSpPr>
            <a:spLocks noGrp="1"/>
          </p:cNvSpPr>
          <p:nvPr>
            <p:ph type="sldNum" sz="quarter" idx="12"/>
          </p:nvPr>
        </p:nvSpPr>
        <p:spPr/>
        <p:txBody>
          <a:bodyPr/>
          <a:lstStyle/>
          <a:p>
            <a:fld id="{9A621F9B-DC96-4211-830F-F4FD83FDAB92}" type="slidenum">
              <a:rPr lang="en-IN" smtClean="0"/>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A827ECC9-E6A7-4AD9-8588-2D93E711A862}" type="datetime1">
              <a:rPr lang="en-IN" smtClean="0"/>
            </a:fld>
            <a:endParaRPr lang="en-IN"/>
          </a:p>
        </p:txBody>
      </p:sp>
      <p:sp>
        <p:nvSpPr>
          <p:cNvPr id="6" name="Footer Placeholder 5"/>
          <p:cNvSpPr>
            <a:spLocks noGrp="1"/>
          </p:cNvSpPr>
          <p:nvPr>
            <p:ph type="ftr" sz="quarter" idx="11"/>
          </p:nvPr>
        </p:nvSpPr>
        <p:spPr/>
        <p:txBody>
          <a:bodyPr/>
          <a:lstStyle/>
          <a:p>
            <a:r>
              <a:rPr lang="en-US"/>
              <a:t>School of Electrical Engineering, MIT, Manipal</a:t>
            </a:r>
            <a:endParaRPr lang="en-IN"/>
          </a:p>
        </p:txBody>
      </p:sp>
      <p:sp>
        <p:nvSpPr>
          <p:cNvPr id="7" name="Slide Number Placeholder 6"/>
          <p:cNvSpPr>
            <a:spLocks noGrp="1"/>
          </p:cNvSpPr>
          <p:nvPr>
            <p:ph type="sldNum" sz="quarter" idx="12"/>
          </p:nvPr>
        </p:nvSpPr>
        <p:spPr/>
        <p:txBody>
          <a:bodyPr/>
          <a:lstStyle/>
          <a:p>
            <a:fld id="{9A621F9B-DC96-4211-830F-F4FD83FDAB92}"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27C8049-B7AB-4164-8773-87236472BC51}" type="datetime1">
              <a:rPr lang="en-IN" smtClean="0"/>
            </a:fld>
            <a:endParaRPr lang="en-IN"/>
          </a:p>
        </p:txBody>
      </p:sp>
      <p:sp>
        <p:nvSpPr>
          <p:cNvPr id="8" name="Footer Placeholder 7"/>
          <p:cNvSpPr>
            <a:spLocks noGrp="1"/>
          </p:cNvSpPr>
          <p:nvPr>
            <p:ph type="ftr" sz="quarter" idx="11"/>
          </p:nvPr>
        </p:nvSpPr>
        <p:spPr/>
        <p:txBody>
          <a:bodyPr/>
          <a:lstStyle/>
          <a:p>
            <a:r>
              <a:rPr lang="en-US"/>
              <a:t>School of Electrical Engineering, MIT, Manipal</a:t>
            </a:r>
            <a:endParaRPr lang="en-IN"/>
          </a:p>
        </p:txBody>
      </p:sp>
      <p:sp>
        <p:nvSpPr>
          <p:cNvPr id="9" name="Slide Number Placeholder 8"/>
          <p:cNvSpPr>
            <a:spLocks noGrp="1"/>
          </p:cNvSpPr>
          <p:nvPr>
            <p:ph type="sldNum" sz="quarter" idx="12"/>
          </p:nvPr>
        </p:nvSpPr>
        <p:spPr/>
        <p:txBody>
          <a:bodyPr/>
          <a:lstStyle/>
          <a:p>
            <a:fld id="{9A621F9B-DC96-4211-830F-F4FD83FDAB92}"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D41FE2-F5A4-442D-89AC-3092BD2AFACA}" type="datetime1">
              <a:rPr lang="en-IN" smtClean="0"/>
            </a:fld>
            <a:endParaRPr lang="en-IN"/>
          </a:p>
        </p:txBody>
      </p:sp>
      <p:sp>
        <p:nvSpPr>
          <p:cNvPr id="4" name="Footer Placeholder 3"/>
          <p:cNvSpPr>
            <a:spLocks noGrp="1"/>
          </p:cNvSpPr>
          <p:nvPr>
            <p:ph type="ftr" sz="quarter" idx="11"/>
          </p:nvPr>
        </p:nvSpPr>
        <p:spPr/>
        <p:txBody>
          <a:bodyPr/>
          <a:lstStyle/>
          <a:p>
            <a:r>
              <a:rPr lang="en-US"/>
              <a:t>School of Electrical Engineering, MIT, Manipal</a:t>
            </a:r>
            <a:endParaRPr lang="en-IN"/>
          </a:p>
        </p:txBody>
      </p:sp>
      <p:sp>
        <p:nvSpPr>
          <p:cNvPr id="5" name="Slide Number Placeholder 4"/>
          <p:cNvSpPr>
            <a:spLocks noGrp="1"/>
          </p:cNvSpPr>
          <p:nvPr>
            <p:ph type="sldNum" sz="quarter" idx="12"/>
          </p:nvPr>
        </p:nvSpPr>
        <p:spPr/>
        <p:txBody>
          <a:bodyPr/>
          <a:lstStyle/>
          <a:p>
            <a:fld id="{9A621F9B-DC96-4211-830F-F4FD83FDAB92}"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7439199-13A3-489C-BE19-7EAAD26BD407}" type="datetime1">
              <a:rPr lang="en-IN" smtClean="0"/>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School of Electrical Engineering, MIT, Manipal</a:t>
            </a:r>
            <a:endParaRPr lang="en-IN"/>
          </a:p>
        </p:txBody>
      </p:sp>
      <p:sp>
        <p:nvSpPr>
          <p:cNvPr id="9" name="Slide Number Placeholder 8"/>
          <p:cNvSpPr>
            <a:spLocks noGrp="1"/>
          </p:cNvSpPr>
          <p:nvPr>
            <p:ph type="sldNum" sz="quarter" idx="12"/>
          </p:nvPr>
        </p:nvSpPr>
        <p:spPr/>
        <p:txBody>
          <a:bodyPr/>
          <a:lstStyle/>
          <a:p>
            <a:fld id="{9A621F9B-DC96-4211-830F-F4FD83FDAB9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A0D844C-013B-4C0C-AC81-57490C7E0CAF}" type="datetime1">
              <a:rPr lang="en-IN" smtClean="0"/>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School of Electrical Engineering, MIT, Manipal</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A621F9B-DC96-4211-830F-F4FD83FDAB92}"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8BB77161-B55B-43E1-A1EA-01A9441C38F9}" type="datetime1">
              <a:rPr lang="en-IN" smtClean="0"/>
            </a:fld>
            <a:endParaRPr lang="en-IN"/>
          </a:p>
        </p:txBody>
      </p:sp>
      <p:sp>
        <p:nvSpPr>
          <p:cNvPr id="6" name="Footer Placeholder 5"/>
          <p:cNvSpPr>
            <a:spLocks noGrp="1"/>
          </p:cNvSpPr>
          <p:nvPr>
            <p:ph type="ftr" sz="quarter" idx="11"/>
          </p:nvPr>
        </p:nvSpPr>
        <p:spPr/>
        <p:txBody>
          <a:bodyPr/>
          <a:lstStyle/>
          <a:p>
            <a:r>
              <a:rPr lang="en-US"/>
              <a:t>School of Electrical Engineering, MIT, Manipal</a:t>
            </a:r>
            <a:endParaRPr lang="en-IN"/>
          </a:p>
        </p:txBody>
      </p:sp>
      <p:sp>
        <p:nvSpPr>
          <p:cNvPr id="7" name="Slide Number Placeholder 6"/>
          <p:cNvSpPr>
            <a:spLocks noGrp="1"/>
          </p:cNvSpPr>
          <p:nvPr>
            <p:ph type="sldNum" sz="quarter" idx="12"/>
          </p:nvPr>
        </p:nvSpPr>
        <p:spPr/>
        <p:txBody>
          <a:bodyPr/>
          <a:lstStyle/>
          <a:p>
            <a:fld id="{9A621F9B-DC96-4211-830F-F4FD83FDAB92}"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34B5A20B-C313-4CF2-B74D-C7D59143150B}" type="datetime1">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Slide Number Placeholder 5"/>
          <p:cNvSpPr>
            <a:spLocks noGrp="1"/>
          </p:cNvSpPr>
          <p:nvPr>
            <p:ph type="sldNum" sz="quarter" idx="12"/>
          </p:nvPr>
        </p:nvSpPr>
        <p:spPr/>
        <p:txBody>
          <a:bodyPr/>
          <a:lstStyle/>
          <a:p>
            <a:fld id="{9A621F9B-DC96-4211-830F-F4FD83FDAB92}"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FDBC3B5-A345-453A-8E34-AB4EF1D3D50D}" type="datetime1">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Slide Number Placeholder 5"/>
          <p:cNvSpPr>
            <a:spLocks noGrp="1"/>
          </p:cNvSpPr>
          <p:nvPr>
            <p:ph type="sldNum" sz="quarter" idx="12"/>
          </p:nvPr>
        </p:nvSpPr>
        <p:spPr/>
        <p:txBody>
          <a:bodyPr/>
          <a:lstStyle/>
          <a:p>
            <a:fld id="{9A621F9B-DC96-4211-830F-F4FD83FDAB92}"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7D85ABB-3A76-4134-B8B7-69BDB74B6A51}" type="datetime1">
              <a:rPr lang="en-IN" smtClean="0"/>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School of Electrical Engineering, MIT, Manipal</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A621F9B-DC96-4211-830F-F4FD83FDAB92}" type="slidenum">
              <a:rPr lang="en-IN" smtClean="0"/>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86175" y="1513840"/>
            <a:ext cx="5154295" cy="1105535"/>
          </a:xfrm>
        </p:spPr>
        <p:txBody>
          <a:bodyPr>
            <a:normAutofit fontScale="90000"/>
          </a:bodyPr>
          <a:lstStyle/>
          <a:p>
            <a:r>
              <a:rPr lang="en-US" sz="4800" dirty="0"/>
              <a:t>XXIII CISCON2026</a:t>
            </a:r>
            <a:endParaRPr lang="en-IN" sz="4800" dirty="0"/>
          </a:p>
        </p:txBody>
      </p:sp>
      <p:sp>
        <p:nvSpPr>
          <p:cNvPr id="3" name="Subtitle 2"/>
          <p:cNvSpPr>
            <a:spLocks noGrp="1"/>
          </p:cNvSpPr>
          <p:nvPr>
            <p:ph type="subTitle" idx="1"/>
          </p:nvPr>
        </p:nvSpPr>
        <p:spPr>
          <a:xfrm>
            <a:off x="1871345" y="2619375"/>
            <a:ext cx="8607425" cy="1484630"/>
          </a:xfrm>
        </p:spPr>
        <p:txBody>
          <a:bodyPr>
            <a:noAutofit/>
          </a:bodyPr>
          <a:lstStyle/>
          <a:p>
            <a:pPr algn="ctr"/>
            <a:r>
              <a:rPr lang="en-US" sz="2000" b="1" dirty="0"/>
              <a:t>Paper ID: 234</a:t>
            </a:r>
            <a:endParaRPr lang="en-US" sz="2000" b="1" dirty="0"/>
          </a:p>
          <a:p>
            <a:r>
              <a:rPr lang="en-US" sz="2800" dirty="0"/>
              <a:t>Deep Learning Driven Brain Tumor Detection
Using ResNet50–ResUNet</a:t>
            </a:r>
            <a:endParaRPr lang="en-US" sz="2800" dirty="0"/>
          </a:p>
        </p:txBody>
      </p:sp>
      <p:sp>
        <p:nvSpPr>
          <p:cNvPr id="5" name="Rectangle 4"/>
          <p:cNvSpPr/>
          <p:nvPr/>
        </p:nvSpPr>
        <p:spPr>
          <a:xfrm>
            <a:off x="2374490" y="4390703"/>
            <a:ext cx="7525968" cy="1245235"/>
          </a:xfrm>
          <a:prstGeom prst="rect">
            <a:avLst/>
          </a:prstGeom>
        </p:spPr>
        <p:txBody>
          <a:bodyPr wrap="square">
            <a:spAutoFit/>
          </a:bodyPr>
          <a:lstStyle/>
          <a:p>
            <a:r>
              <a:rPr lang="en-US" sz="1500" dirty="0"/>
              <a:t>Presenter Name: Darshan Suresh</a:t>
            </a:r>
            <a:endParaRPr lang="en-US" sz="1500" dirty="0"/>
          </a:p>
          <a:p>
            <a:r>
              <a:rPr lang="en-US" sz="1500" dirty="0"/>
              <a:t>Presentation Date: 8th August 2026</a:t>
            </a:r>
            <a:endParaRPr lang="en-US" sz="1500" dirty="0"/>
          </a:p>
          <a:p>
            <a:r>
              <a:rPr lang="en-US" sz="1500" dirty="0"/>
              <a:t>Department &amp; Institution Name: Dept. of Computer Science, Amrita School of Computing, Amrita Vishwa Vidyapeetham, Mysuru</a:t>
            </a:r>
            <a:endParaRPr lang="en-US" sz="1500" dirty="0"/>
          </a:p>
          <a:p>
            <a:r>
              <a:rPr lang="en-US" sz="1500" dirty="0"/>
              <a:t>Contact Details: darshansuresh1804@gmail.com</a:t>
            </a:r>
            <a:endParaRPr lang="en-US" sz="1500" dirty="0"/>
          </a:p>
        </p:txBody>
      </p:sp>
      <p:sp>
        <p:nvSpPr>
          <p:cNvPr id="7" name="Date Placeholder 6"/>
          <p:cNvSpPr>
            <a:spLocks noGrp="1"/>
          </p:cNvSpPr>
          <p:nvPr>
            <p:ph type="dt" sz="half" idx="10"/>
          </p:nvPr>
        </p:nvSpPr>
        <p:spPr/>
        <p:txBody>
          <a:bodyPr/>
          <a:lstStyle/>
          <a:p>
            <a:fld id="{2A68C991-C8F5-4006-971E-8F3FC78AFF8E}" type="datetime1">
              <a:rPr lang="en-IN" smtClean="0"/>
            </a:fld>
            <a:endParaRPr lang="en-IN" dirty="0"/>
          </a:p>
        </p:txBody>
      </p:sp>
      <p:sp>
        <p:nvSpPr>
          <p:cNvPr id="8" name="Slide Number Placeholder 7"/>
          <p:cNvSpPr>
            <a:spLocks noGrp="1"/>
          </p:cNvSpPr>
          <p:nvPr>
            <p:ph type="sldNum" sz="quarter" idx="12"/>
          </p:nvPr>
        </p:nvSpPr>
        <p:spPr/>
        <p:txBody>
          <a:bodyPr/>
          <a:lstStyle/>
          <a:p>
            <a:fld id="{9A621F9B-DC96-4211-830F-F4FD83FDAB92}" type="slidenum">
              <a:rPr lang="en-IN" smtClean="0"/>
            </a:fld>
            <a:endParaRPr lang="en-IN"/>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5483" y="33090"/>
            <a:ext cx="10287000" cy="1762125"/>
          </a:xfrm>
          <a:prstGeom prst="rect">
            <a:avLst/>
          </a:prstGeom>
        </p:spPr>
      </p:pic>
      <p:sp>
        <p:nvSpPr>
          <p:cNvPr id="6" name="Footer Placeholder 5"/>
          <p:cNvSpPr>
            <a:spLocks noGrp="1"/>
          </p:cNvSpPr>
          <p:nvPr>
            <p:ph type="ftr" sz="quarter" idx="11"/>
          </p:nvPr>
        </p:nvSpPr>
        <p:spPr/>
        <p:txBody>
          <a:bodyPr/>
          <a:lstStyle/>
          <a:p>
            <a:r>
              <a:rPr lang="en-US"/>
              <a:t>School of Electrical Engineering, MIT, Manipal</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385"/>
            <a:ext cx="10058400" cy="1071880"/>
          </a:xfrm>
        </p:spPr>
        <p:txBody>
          <a:bodyPr/>
          <a:lstStyle/>
          <a:p>
            <a:r>
              <a:rPr lang="en-US" dirty="0"/>
              <a:t>Content</a:t>
            </a:r>
            <a:endParaRPr lang="en-IN" dirty="0"/>
          </a:p>
        </p:txBody>
      </p:sp>
      <p:sp>
        <p:nvSpPr>
          <p:cNvPr id="3" name="Date Placeholder 2"/>
          <p:cNvSpPr>
            <a:spLocks noGrp="1"/>
          </p:cNvSpPr>
          <p:nvPr>
            <p:ph type="dt" sz="half" idx="10"/>
          </p:nvPr>
        </p:nvSpPr>
        <p:spPr/>
        <p:txBody>
          <a:bodyPr/>
          <a:lstStyle/>
          <a:p>
            <a:fld id="{03450D1E-3EAE-4746-9D02-5746968AEBFD}"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78635"/>
            <a:ext cx="10515600" cy="4256405"/>
          </a:xfrm>
          <a:prstGeom prst="rect">
            <a:avLst/>
          </a:prstGeom>
          <a:noFill/>
        </p:spPr>
        <p:txBody>
          <a:bodyPr wrap="square">
            <a:noAutofit/>
          </a:bodyPr>
          <a:lstStyle/>
          <a:p>
            <a:pPr>
              <a:lnSpc>
                <a:spcPct val="105000"/>
              </a:lnSpc>
              <a:spcAft>
                <a:spcPts val="1400"/>
              </a:spcAft>
            </a:pPr>
            <a:r>
              <a:rPr sz="1800" b="0" i="0">
                <a:solidFill>
                  <a:srgbClr val="333333"/>
                </a:solidFill>
                <a:latin typeface="Calibri"/>
              </a:rPr>
              <a:t>• Introduction &amp; Motivation</a:t>
            </a:r>
            <a:endParaRPr sz="1800" b="0" i="0">
              <a:solidFill>
                <a:srgbClr val="333333"/>
              </a:solidFill>
              <a:latin typeface="Calibri"/>
            </a:endParaRPr>
          </a:p>
          <a:p>
            <a:pPr>
              <a:lnSpc>
                <a:spcPct val="105000"/>
              </a:lnSpc>
              <a:spcAft>
                <a:spcPts val="1400"/>
              </a:spcAft>
            </a:pPr>
            <a:r>
              <a:rPr sz="1800" b="0" i="0">
                <a:solidFill>
                  <a:srgbClr val="333333"/>
                </a:solidFill>
                <a:latin typeface="Calibri"/>
              </a:rPr>
              <a:t>• Literature Summary &amp; Research Gap</a:t>
            </a:r>
            <a:endParaRPr sz="1800" b="0" i="0">
              <a:solidFill>
                <a:srgbClr val="333333"/>
              </a:solidFill>
              <a:latin typeface="Calibri"/>
            </a:endParaRPr>
          </a:p>
          <a:p>
            <a:pPr>
              <a:lnSpc>
                <a:spcPct val="105000"/>
              </a:lnSpc>
              <a:spcAft>
                <a:spcPts val="1400"/>
              </a:spcAft>
            </a:pPr>
            <a:r>
              <a:rPr sz="1800" b="0" i="0">
                <a:solidFill>
                  <a:srgbClr val="333333"/>
                </a:solidFill>
                <a:latin typeface="Calibri"/>
              </a:rPr>
              <a:t>• Objectives of the Research Work</a:t>
            </a:r>
            <a:endParaRPr sz="1800" b="0" i="0">
              <a:solidFill>
                <a:srgbClr val="333333"/>
              </a:solidFill>
              <a:latin typeface="Calibri"/>
            </a:endParaRPr>
          </a:p>
          <a:p>
            <a:pPr>
              <a:lnSpc>
                <a:spcPct val="105000"/>
              </a:lnSpc>
              <a:spcAft>
                <a:spcPts val="1400"/>
              </a:spcAft>
            </a:pPr>
            <a:r>
              <a:rPr sz="1800" b="0" i="0">
                <a:solidFill>
                  <a:srgbClr val="333333"/>
                </a:solidFill>
                <a:latin typeface="Calibri"/>
              </a:rPr>
              <a:t>• Proposed Methodology</a:t>
            </a:r>
            <a:endParaRPr sz="1800" b="0" i="0">
              <a:solidFill>
                <a:srgbClr val="333333"/>
              </a:solidFill>
              <a:latin typeface="Calibri"/>
            </a:endParaRPr>
          </a:p>
          <a:p>
            <a:pPr>
              <a:lnSpc>
                <a:spcPct val="105000"/>
              </a:lnSpc>
              <a:spcAft>
                <a:spcPts val="1400"/>
              </a:spcAft>
            </a:pPr>
            <a:r>
              <a:rPr sz="1800" b="0" i="0">
                <a:solidFill>
                  <a:srgbClr val="333333"/>
                </a:solidFill>
                <a:latin typeface="Calibri"/>
              </a:rPr>
              <a:t>• Dataset, Preprocessing &amp; Model Design</a:t>
            </a:r>
            <a:endParaRPr sz="1800" b="0" i="0">
              <a:solidFill>
                <a:srgbClr val="333333"/>
              </a:solidFill>
              <a:latin typeface="Calibri"/>
            </a:endParaRPr>
          </a:p>
          <a:p>
            <a:pPr>
              <a:lnSpc>
                <a:spcPct val="105000"/>
              </a:lnSpc>
              <a:spcAft>
                <a:spcPts val="1400"/>
              </a:spcAft>
            </a:pPr>
            <a:r>
              <a:rPr sz="1800" b="0" i="0">
                <a:solidFill>
                  <a:srgbClr val="333333"/>
                </a:solidFill>
                <a:latin typeface="Calibri"/>
              </a:rPr>
              <a:t>• Experimental Results &amp; Performance</a:t>
            </a:r>
            <a:endParaRPr sz="1800" b="0" i="0">
              <a:solidFill>
                <a:srgbClr val="333333"/>
              </a:solidFill>
              <a:latin typeface="Calibri"/>
            </a:endParaRPr>
          </a:p>
          <a:p>
            <a:pPr>
              <a:lnSpc>
                <a:spcPct val="105000"/>
              </a:lnSpc>
              <a:spcAft>
                <a:spcPts val="1400"/>
              </a:spcAft>
            </a:pPr>
            <a:r>
              <a:rPr sz="1800" b="0" i="0">
                <a:solidFill>
                  <a:srgbClr val="333333"/>
                </a:solidFill>
                <a:latin typeface="Calibri"/>
              </a:rPr>
              <a:t>• Comparison with Existing Methods</a:t>
            </a:r>
            <a:endParaRPr sz="1800" b="0" i="0">
              <a:solidFill>
                <a:srgbClr val="333333"/>
              </a:solidFill>
              <a:latin typeface="Calibri"/>
            </a:endParaRPr>
          </a:p>
          <a:p>
            <a:pPr>
              <a:lnSpc>
                <a:spcPct val="105000"/>
              </a:lnSpc>
              <a:spcAft>
                <a:spcPts val="1400"/>
              </a:spcAft>
            </a:pPr>
            <a:r>
              <a:rPr sz="1800" b="0" i="0">
                <a:solidFill>
                  <a:srgbClr val="333333"/>
                </a:solidFill>
                <a:latin typeface="Calibri"/>
              </a:rPr>
              <a:t>• Real-World Applications &amp; Conference Theme Alignment</a:t>
            </a:r>
            <a:endParaRPr sz="1800" b="0" i="0">
              <a:solidFill>
                <a:srgbClr val="333333"/>
              </a:solidFill>
              <a:latin typeface="Calibri"/>
            </a:endParaRPr>
          </a:p>
          <a:p>
            <a:pPr>
              <a:lnSpc>
                <a:spcPct val="105000"/>
              </a:lnSpc>
              <a:spcAft>
                <a:spcPts val="1400"/>
              </a:spcAft>
            </a:pPr>
            <a:r>
              <a:rPr sz="1800" b="0" i="0">
                <a:solidFill>
                  <a:srgbClr val="333333"/>
                </a:solidFill>
                <a:latin typeface="Calibri"/>
              </a:rPr>
              <a:t>• Conclusion &amp; Future Scope</a:t>
            </a:r>
            <a:endParaRPr sz="1800" b="0" i="0">
              <a:solidFill>
                <a:srgbClr val="333333"/>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endParaRPr lang="en-IN" dirty="0"/>
          </a:p>
        </p:txBody>
      </p:sp>
      <p:sp>
        <p:nvSpPr>
          <p:cNvPr id="3" name="Date Placeholder 2"/>
          <p:cNvSpPr>
            <a:spLocks noGrp="1"/>
          </p:cNvSpPr>
          <p:nvPr>
            <p:ph type="dt" sz="half" idx="10"/>
          </p:nvPr>
        </p:nvSpPr>
        <p:spPr/>
        <p:txBody>
          <a:bodyPr/>
          <a:lstStyle/>
          <a:p>
            <a:fld id="{4515F541-BB71-46DC-B42B-4D24DCD7664B}"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83080"/>
            <a:ext cx="6400800" cy="3455670"/>
          </a:xfrm>
          <a:prstGeom prst="rect">
            <a:avLst/>
          </a:prstGeom>
          <a:noFill/>
        </p:spPr>
        <p:txBody>
          <a:bodyPr wrap="square">
            <a:noAutofit/>
          </a:bodyPr>
          <a:lstStyle/>
          <a:p>
            <a:pPr>
              <a:lnSpc>
                <a:spcPct val="105000"/>
              </a:lnSpc>
              <a:spcAft>
                <a:spcPts val="1200"/>
              </a:spcAft>
            </a:pPr>
            <a:r>
              <a:rPr sz="1500" b="0" i="0">
                <a:solidFill>
                  <a:srgbClr val="333333"/>
                </a:solidFill>
                <a:latin typeface="Calibri"/>
              </a:rPr>
              <a:t>• Brain tumors are among the most serious neurological diseases — early diagnosis is critical for treatment planning and survival</a:t>
            </a:r>
            <a:endParaRPr sz="1500" b="0" i="0">
              <a:solidFill>
                <a:srgbClr val="333333"/>
              </a:solidFill>
              <a:latin typeface="Calibri"/>
            </a:endParaRPr>
          </a:p>
          <a:p>
            <a:pPr>
              <a:lnSpc>
                <a:spcPct val="105000"/>
              </a:lnSpc>
              <a:spcAft>
                <a:spcPts val="1200"/>
              </a:spcAft>
            </a:pPr>
            <a:r>
              <a:rPr sz="1500" b="0" i="0">
                <a:solidFill>
                  <a:srgbClr val="333333"/>
                </a:solidFill>
                <a:latin typeface="Calibri"/>
              </a:rPr>
              <a:t>• MRI is the preferred imaging modality: excellent soft-tissue contrast, no ionizing radiation</a:t>
            </a:r>
            <a:endParaRPr sz="1500" b="0" i="0">
              <a:solidFill>
                <a:srgbClr val="333333"/>
              </a:solidFill>
              <a:latin typeface="Calibri"/>
            </a:endParaRPr>
          </a:p>
          <a:p>
            <a:pPr>
              <a:lnSpc>
                <a:spcPct val="105000"/>
              </a:lnSpc>
              <a:spcAft>
                <a:spcPts val="1200"/>
              </a:spcAft>
            </a:pPr>
            <a:r>
              <a:rPr sz="1500" b="0" i="0">
                <a:solidFill>
                  <a:srgbClr val="333333"/>
                </a:solidFill>
                <a:latin typeface="Calibri"/>
              </a:rPr>
              <a:t>• Manual interpretation of MRI scans is time-consuming and highly dependent on radiologist expertise</a:t>
            </a:r>
            <a:endParaRPr sz="1500" b="0" i="0">
              <a:solidFill>
                <a:srgbClr val="333333"/>
              </a:solidFill>
              <a:latin typeface="Calibri"/>
            </a:endParaRPr>
          </a:p>
          <a:p>
            <a:pPr>
              <a:lnSpc>
                <a:spcPct val="105000"/>
              </a:lnSpc>
              <a:spcAft>
                <a:spcPts val="1200"/>
              </a:spcAft>
            </a:pPr>
            <a:r>
              <a:rPr sz="1500" b="0" i="0">
                <a:solidFill>
                  <a:srgbClr val="333333"/>
                </a:solidFill>
                <a:latin typeface="Calibri"/>
              </a:rPr>
              <a:t>• Existing deep learning approaches largely address classification OR segmentation in isolation, with limited statistical validation</a:t>
            </a:r>
            <a:endParaRPr sz="1500" b="0" i="0">
              <a:solidFill>
                <a:srgbClr val="333333"/>
              </a:solidFill>
              <a:latin typeface="Calibri"/>
            </a:endParaRPr>
          </a:p>
          <a:p>
            <a:pPr>
              <a:lnSpc>
                <a:spcPct val="105000"/>
              </a:lnSpc>
              <a:spcAft>
                <a:spcPts val="1200"/>
              </a:spcAft>
            </a:pPr>
            <a:r>
              <a:rPr sz="1500" b="0" i="0">
                <a:solidFill>
                  <a:srgbClr val="333333"/>
                </a:solidFill>
                <a:latin typeface="Calibri"/>
              </a:rPr>
              <a:t>• This work proposes an integrated ResNet50–ResUNet framework for simultaneous tumor detection and localization, validated through repeated experimental runs</a:t>
            </a:r>
            <a:endParaRPr sz="1500" b="0" i="0">
              <a:solidFill>
                <a:srgbClr val="333333"/>
              </a:solidFill>
              <a:latin typeface="Calibri"/>
            </a:endParaRPr>
          </a:p>
        </p:txBody>
      </p:sp>
      <p:pic>
        <p:nvPicPr>
          <p:cNvPr id="7" name="Picture 6" descr="fig1_brain_anatomy.png"/>
          <p:cNvPicPr>
            <a:picLocks noChangeAspect="1"/>
          </p:cNvPicPr>
          <p:nvPr/>
        </p:nvPicPr>
        <p:blipFill>
          <a:blip r:embed="rId1"/>
          <a:stretch>
            <a:fillRect/>
          </a:stretch>
        </p:blipFill>
        <p:spPr>
          <a:xfrm>
            <a:off x="7452360" y="1874519"/>
            <a:ext cx="3886200" cy="3456220"/>
          </a:xfrm>
          <a:prstGeom prst="rect">
            <a:avLst/>
          </a:prstGeom>
        </p:spPr>
      </p:pic>
      <p:sp>
        <p:nvSpPr>
          <p:cNvPr id="8" name="TextBox 7"/>
          <p:cNvSpPr txBox="1"/>
          <p:nvPr/>
        </p:nvSpPr>
        <p:spPr>
          <a:xfrm>
            <a:off x="7452360" y="5623560"/>
            <a:ext cx="3886200" cy="365760"/>
          </a:xfrm>
          <a:prstGeom prst="rect">
            <a:avLst/>
          </a:prstGeom>
          <a:noFill/>
        </p:spPr>
        <p:txBody>
          <a:bodyPr wrap="square">
            <a:spAutoFit/>
          </a:bodyPr>
          <a:lstStyle/>
          <a:p>
            <a:pPr algn="ctr"/>
            <a:r>
              <a:rPr sz="1000" b="0" i="1">
                <a:solidFill>
                  <a:srgbClr val="666666"/>
                </a:solidFill>
                <a:latin typeface="Calibri"/>
              </a:rPr>
              <a:t>Fig. Annotated cross-sectional view of the human brain</a:t>
            </a:r>
            <a:endParaRPr sz="1000" b="0" i="1">
              <a:solidFill>
                <a:srgbClr val="666666"/>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Summary</a:t>
            </a:r>
            <a:endParaRPr lang="en-IN" dirty="0"/>
          </a:p>
        </p:txBody>
      </p:sp>
      <p:sp>
        <p:nvSpPr>
          <p:cNvPr id="3" name="Date Placeholder 2"/>
          <p:cNvSpPr>
            <a:spLocks noGrp="1"/>
          </p:cNvSpPr>
          <p:nvPr>
            <p:ph type="dt" sz="half" idx="10"/>
          </p:nvPr>
        </p:nvSpPr>
        <p:spPr/>
        <p:txBody>
          <a:bodyPr/>
          <a:lstStyle/>
          <a:p>
            <a:fld id="{4CFF3447-B330-40C3-8F39-6900CB1AF66A}"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83080"/>
            <a:ext cx="10515600" cy="3017520"/>
          </a:xfrm>
          <a:prstGeom prst="rect">
            <a:avLst/>
          </a:prstGeom>
          <a:noFill/>
        </p:spPr>
        <p:txBody>
          <a:bodyPr wrap="square">
            <a:spAutoFit/>
          </a:bodyPr>
          <a:lstStyle/>
          <a:p>
            <a:pPr>
              <a:lnSpc>
                <a:spcPct val="105000"/>
              </a:lnSpc>
              <a:spcAft>
                <a:spcPts val="1000"/>
              </a:spcAft>
            </a:pPr>
            <a:r>
              <a:rPr sz="1400" b="0" i="0">
                <a:solidFill>
                  <a:srgbClr val="333333"/>
                </a:solidFill>
                <a:latin typeface="Calibri"/>
              </a:rPr>
              <a:t>• CNNs automatically learn hierarchical MRI features, outperforming traditional handcrafted feature-extraction methods [1]</a:t>
            </a:r>
            <a:endParaRPr sz="1400" b="0" i="0">
              <a:solidFill>
                <a:srgbClr val="333333"/>
              </a:solidFill>
              <a:latin typeface="Calibri"/>
            </a:endParaRPr>
          </a:p>
          <a:p>
            <a:pPr>
              <a:lnSpc>
                <a:spcPct val="105000"/>
              </a:lnSpc>
              <a:spcAft>
                <a:spcPts val="1000"/>
              </a:spcAft>
            </a:pPr>
            <a:r>
              <a:rPr sz="1400" b="0" i="0">
                <a:solidFill>
                  <a:srgbClr val="333333"/>
                </a:solidFill>
                <a:latin typeface="Calibri"/>
              </a:rPr>
              <a:t>• Transfer learning with ImageNet-pretrained weights improves performance on limited medical imaging datasets [5]</a:t>
            </a:r>
            <a:endParaRPr sz="1400" b="0" i="0">
              <a:solidFill>
                <a:srgbClr val="333333"/>
              </a:solidFill>
              <a:latin typeface="Calibri"/>
            </a:endParaRPr>
          </a:p>
          <a:p>
            <a:pPr>
              <a:lnSpc>
                <a:spcPct val="105000"/>
              </a:lnSpc>
              <a:spcAft>
                <a:spcPts val="1000"/>
              </a:spcAft>
            </a:pPr>
            <a:r>
              <a:rPr sz="1400" b="0" i="0">
                <a:solidFill>
                  <a:srgbClr val="333333"/>
                </a:solidFill>
                <a:latin typeface="Calibri"/>
              </a:rPr>
              <a:t>• ResNet's residual learning eases training of very deep networks and mitigates the vanishing-gradient problem; several studies report &gt;95% classification accuracy [2]</a:t>
            </a:r>
            <a:endParaRPr sz="1400" b="0" i="0">
              <a:solidFill>
                <a:srgbClr val="333333"/>
              </a:solidFill>
              <a:latin typeface="Calibri"/>
            </a:endParaRPr>
          </a:p>
          <a:p>
            <a:pPr>
              <a:lnSpc>
                <a:spcPct val="105000"/>
              </a:lnSpc>
              <a:spcAft>
                <a:spcPts val="1000"/>
              </a:spcAft>
            </a:pPr>
            <a:r>
              <a:rPr sz="1400" b="0" i="0">
                <a:solidFill>
                  <a:srgbClr val="333333"/>
                </a:solidFill>
                <a:latin typeface="Calibri"/>
              </a:rPr>
              <a:t>• U-Net's encoder–decoder architecture with skip connections preserves spatial detail for biomedical segmentation [3]</a:t>
            </a:r>
            <a:endParaRPr sz="1400" b="0" i="0">
              <a:solidFill>
                <a:srgbClr val="333333"/>
              </a:solidFill>
              <a:latin typeface="Calibri"/>
            </a:endParaRPr>
          </a:p>
          <a:p>
            <a:pPr>
              <a:lnSpc>
                <a:spcPct val="105000"/>
              </a:lnSpc>
              <a:spcAft>
                <a:spcPts val="1000"/>
              </a:spcAft>
            </a:pPr>
            <a:r>
              <a:rPr sz="1400" b="0" i="0">
                <a:solidFill>
                  <a:srgbClr val="333333"/>
                </a:solidFill>
                <a:latin typeface="Calibri"/>
              </a:rPr>
              <a:t>• ResUNet integrates residual blocks into U-Net, improving feature extraction and segmentation accuracy over conventional segmentation networks [4]</a:t>
            </a:r>
            <a:endParaRPr sz="1400" b="0" i="0">
              <a:solidFill>
                <a:srgbClr val="333333"/>
              </a:solidFill>
              <a:latin typeface="Calibri"/>
            </a:endParaRPr>
          </a:p>
          <a:p>
            <a:pPr>
              <a:lnSpc>
                <a:spcPct val="105000"/>
              </a:lnSpc>
              <a:spcAft>
                <a:spcPts val="1000"/>
              </a:spcAft>
            </a:pPr>
            <a:r>
              <a:rPr sz="1400" b="0" i="0">
                <a:solidFill>
                  <a:srgbClr val="333333"/>
                </a:solidFill>
                <a:latin typeface="Calibri"/>
              </a:rPr>
              <a:t>• Focal Tversky Loss effectively handles class imbalance in medical image segmentation [6]</a:t>
            </a:r>
            <a:endParaRPr sz="1400" b="0" i="0">
              <a:solidFill>
                <a:srgbClr val="333333"/>
              </a:solidFill>
              <a:latin typeface="Calibri"/>
            </a:endParaRPr>
          </a:p>
        </p:txBody>
      </p:sp>
      <p:sp>
        <p:nvSpPr>
          <p:cNvPr id="7" name="Rounded Rectangle 6"/>
          <p:cNvSpPr/>
          <p:nvPr/>
        </p:nvSpPr>
        <p:spPr>
          <a:xfrm>
            <a:off x="822960" y="5074920"/>
            <a:ext cx="10515600" cy="960120"/>
          </a:xfrm>
          <a:prstGeom prst="roundRect">
            <a:avLst/>
          </a:prstGeom>
          <a:solidFill>
            <a:srgbClr val="F7EFE7"/>
          </a:solidFill>
          <a:ln>
            <a:noFill/>
          </a:ln>
          <a:effectLst/>
        </p:spPr>
        <p:txBody>
          <a:bodyPr wrap="square" lIns="177800" tIns="76200" rIns="177800" bIns="76200" rtlCol="0" anchor="ctr"/>
          <a:lstStyle/>
          <a:p>
            <a:pPr algn="ctr"/>
            <a:r>
              <a:rPr sz="1400" b="1" i="0">
                <a:solidFill>
                  <a:srgbClr val="BD582C"/>
                </a:solidFill>
                <a:latin typeface="Calibri"/>
              </a:rPr>
              <a:t>Research Gap: </a:t>
            </a:r>
            <a:r>
              <a:rPr sz="1400" b="0" i="0">
                <a:solidFill>
                  <a:srgbClr val="333333"/>
                </a:solidFill>
                <a:latin typeface="Calibri"/>
              </a:rPr>
              <a:t>Most existing studies focus on classification or segmentation alone, and give little attention to statistical validation and reproducibility of results.</a:t>
            </a:r>
            <a:endParaRPr sz="1400" b="0" i="0">
              <a:solidFill>
                <a:srgbClr val="333333"/>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the Research Work</a:t>
            </a:r>
            <a:endParaRPr lang="en-IN" dirty="0"/>
          </a:p>
        </p:txBody>
      </p:sp>
      <p:sp>
        <p:nvSpPr>
          <p:cNvPr id="3" name="Date Placeholder 2"/>
          <p:cNvSpPr>
            <a:spLocks noGrp="1"/>
          </p:cNvSpPr>
          <p:nvPr>
            <p:ph type="dt" sz="half" idx="10"/>
          </p:nvPr>
        </p:nvSpPr>
        <p:spPr/>
        <p:txBody>
          <a:bodyPr/>
          <a:lstStyle/>
          <a:p>
            <a:fld id="{DF3227EA-E3BF-401F-8C13-002FE7E0B102}"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83080"/>
            <a:ext cx="10515600" cy="4251960"/>
          </a:xfrm>
          <a:prstGeom prst="rect">
            <a:avLst/>
          </a:prstGeom>
          <a:noFill/>
        </p:spPr>
        <p:txBody>
          <a:bodyPr wrap="square">
            <a:spAutoFit/>
          </a:bodyPr>
          <a:lstStyle/>
          <a:p>
            <a:pPr>
              <a:lnSpc>
                <a:spcPct val="105000"/>
              </a:lnSpc>
              <a:spcAft>
                <a:spcPts val="2000"/>
              </a:spcAft>
            </a:pPr>
            <a:r>
              <a:rPr sz="1700" b="0" i="0">
                <a:solidFill>
                  <a:srgbClr val="333333"/>
                </a:solidFill>
                <a:latin typeface="Calibri"/>
              </a:rPr>
              <a:t>• Develop an integrated ResNet50–ResUNet framework for simultaneous tumor detection and localization</a:t>
            </a:r>
            <a:endParaRPr sz="1700" b="0" i="0">
              <a:solidFill>
                <a:srgbClr val="333333"/>
              </a:solidFill>
              <a:latin typeface="Calibri"/>
            </a:endParaRPr>
          </a:p>
          <a:p>
            <a:pPr>
              <a:lnSpc>
                <a:spcPct val="105000"/>
              </a:lnSpc>
              <a:spcAft>
                <a:spcPts val="2000"/>
              </a:spcAft>
            </a:pPr>
            <a:r>
              <a:rPr sz="1700" b="0" i="0">
                <a:solidFill>
                  <a:srgbClr val="333333"/>
                </a:solidFill>
                <a:latin typeface="Calibri"/>
              </a:rPr>
              <a:t>• Utilize transfer learning to improve classification performance on limited MRI datasets</a:t>
            </a:r>
            <a:endParaRPr sz="1700" b="0" i="0">
              <a:solidFill>
                <a:srgbClr val="333333"/>
              </a:solidFill>
              <a:latin typeface="Calibri"/>
            </a:endParaRPr>
          </a:p>
          <a:p>
            <a:pPr>
              <a:lnSpc>
                <a:spcPct val="105000"/>
              </a:lnSpc>
              <a:spcAft>
                <a:spcPts val="2000"/>
              </a:spcAft>
            </a:pPr>
            <a:r>
              <a:rPr sz="1700" b="0" i="0">
                <a:solidFill>
                  <a:srgbClr val="333333"/>
                </a:solidFill>
                <a:latin typeface="Calibri"/>
              </a:rPr>
              <a:t>• Apply advanced preprocessing and data augmentation to improve model robustness and generalization</a:t>
            </a:r>
            <a:endParaRPr sz="1700" b="0" i="0">
              <a:solidFill>
                <a:srgbClr val="333333"/>
              </a:solidFill>
              <a:latin typeface="Calibri"/>
            </a:endParaRPr>
          </a:p>
          <a:p>
            <a:pPr>
              <a:lnSpc>
                <a:spcPct val="105000"/>
              </a:lnSpc>
              <a:spcAft>
                <a:spcPts val="2000"/>
              </a:spcAft>
            </a:pPr>
            <a:r>
              <a:rPr sz="1700" b="0" i="0">
                <a:solidFill>
                  <a:srgbClr val="333333"/>
                </a:solidFill>
                <a:latin typeface="Calibri"/>
              </a:rPr>
              <a:t>• Conduct comprehensive evaluation using both classification and segmentation metrics</a:t>
            </a:r>
            <a:endParaRPr sz="1700" b="0" i="0">
              <a:solidFill>
                <a:srgbClr val="333333"/>
              </a:solidFill>
              <a:latin typeface="Calibri"/>
            </a:endParaRPr>
          </a:p>
          <a:p>
            <a:pPr>
              <a:lnSpc>
                <a:spcPct val="105000"/>
              </a:lnSpc>
              <a:spcAft>
                <a:spcPts val="2000"/>
              </a:spcAft>
            </a:pPr>
            <a:r>
              <a:rPr sz="1700" b="0" i="0">
                <a:solidFill>
                  <a:srgbClr val="333333"/>
                </a:solidFill>
                <a:latin typeface="Calibri"/>
              </a:rPr>
              <a:t>• Perform statistical validation through repeated experimental runs and confidence-interval analysis</a:t>
            </a:r>
            <a:endParaRPr sz="1700" b="0" i="0">
              <a:solidFill>
                <a:srgbClr val="333333"/>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 Proposed Two-Stage Framework</a:t>
            </a:r>
            <a:endParaRPr lang="en-IN" dirty="0"/>
          </a:p>
        </p:txBody>
      </p:sp>
      <p:sp>
        <p:nvSpPr>
          <p:cNvPr id="3" name="Date Placeholder 2"/>
          <p:cNvSpPr>
            <a:spLocks noGrp="1"/>
          </p:cNvSpPr>
          <p:nvPr>
            <p:ph type="dt" sz="half" idx="10"/>
          </p:nvPr>
        </p:nvSpPr>
        <p:spPr/>
        <p:txBody>
          <a:bodyPr/>
          <a:lstStyle/>
          <a:p>
            <a:fld id="{B6833C6A-C54F-4577-AC6E-3738689B24F1}"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83080"/>
            <a:ext cx="5394960" cy="4251960"/>
          </a:xfrm>
          <a:prstGeom prst="rect">
            <a:avLst/>
          </a:prstGeom>
          <a:noFill/>
        </p:spPr>
        <p:txBody>
          <a:bodyPr wrap="square">
            <a:spAutoFit/>
          </a:bodyPr>
          <a:lstStyle/>
          <a:p>
            <a:pPr>
              <a:lnSpc>
                <a:spcPct val="105000"/>
              </a:lnSpc>
              <a:spcAft>
                <a:spcPts val="1200"/>
              </a:spcAft>
            </a:pPr>
            <a:r>
              <a:rPr sz="1400" b="1" i="0">
                <a:solidFill>
                  <a:srgbClr val="333333"/>
                </a:solidFill>
                <a:latin typeface="Calibri"/>
              </a:rPr>
              <a:t>• Stage 1 – Classification:</a:t>
            </a:r>
            <a:endParaRPr sz="1400" b="1" i="0">
              <a:solidFill>
                <a:srgbClr val="333333"/>
              </a:solidFill>
              <a:latin typeface="Calibri"/>
            </a:endParaRPr>
          </a:p>
          <a:p>
            <a:pPr lvl="1">
              <a:lnSpc>
                <a:spcPct val="105000"/>
              </a:lnSpc>
              <a:spcAft>
                <a:spcPts val="1200"/>
              </a:spcAft>
            </a:pPr>
            <a:r>
              <a:rPr sz="1300" b="0" i="0">
                <a:solidFill>
                  <a:srgbClr val="333333"/>
                </a:solidFill>
                <a:latin typeface="Calibri"/>
              </a:rPr>
              <a:t>– MRI input → preprocessing → ResNet50 → Tumor / Non-Tumor prediction</a:t>
            </a:r>
            <a:endParaRPr sz="1300" b="0" i="0">
              <a:solidFill>
                <a:srgbClr val="333333"/>
              </a:solidFill>
              <a:latin typeface="Calibri"/>
            </a:endParaRPr>
          </a:p>
          <a:p>
            <a:pPr>
              <a:lnSpc>
                <a:spcPct val="105000"/>
              </a:lnSpc>
              <a:spcAft>
                <a:spcPts val="1200"/>
              </a:spcAft>
            </a:pPr>
            <a:r>
              <a:rPr sz="1400" b="1" i="0">
                <a:solidFill>
                  <a:srgbClr val="333333"/>
                </a:solidFill>
                <a:latin typeface="Calibri"/>
              </a:rPr>
              <a:t>• Stage 2 – Segmentation:</a:t>
            </a:r>
            <a:endParaRPr sz="1400" b="1" i="0">
              <a:solidFill>
                <a:srgbClr val="333333"/>
              </a:solidFill>
              <a:latin typeface="Calibri"/>
            </a:endParaRPr>
          </a:p>
          <a:p>
            <a:pPr lvl="1">
              <a:lnSpc>
                <a:spcPct val="105000"/>
              </a:lnSpc>
              <a:spcAft>
                <a:spcPts val="1200"/>
              </a:spcAft>
            </a:pPr>
            <a:r>
              <a:rPr sz="1300" b="0" i="0">
                <a:solidFill>
                  <a:srgbClr val="333333"/>
                </a:solidFill>
                <a:latin typeface="Calibri"/>
              </a:rPr>
              <a:t>– Tumor-positive MRI → ResUNet → pixel-wise mask → tumor localization</a:t>
            </a:r>
            <a:endParaRPr sz="1300" b="0" i="0">
              <a:solidFill>
                <a:srgbClr val="333333"/>
              </a:solidFill>
              <a:latin typeface="Calibri"/>
            </a:endParaRPr>
          </a:p>
          <a:p>
            <a:pPr>
              <a:lnSpc>
                <a:spcPct val="105000"/>
              </a:lnSpc>
              <a:spcAft>
                <a:spcPts val="1200"/>
              </a:spcAft>
            </a:pPr>
            <a:r>
              <a:rPr sz="1400" b="0" i="0">
                <a:solidFill>
                  <a:srgbClr val="333333"/>
                </a:solidFill>
                <a:latin typeface="Calibri"/>
              </a:rPr>
              <a:t>• Segmentation runs only on tumor-positive scans — efficient, avoids unnecessary computation</a:t>
            </a:r>
            <a:endParaRPr sz="1400" b="0" i="0">
              <a:solidFill>
                <a:srgbClr val="333333"/>
              </a:solidFill>
              <a:latin typeface="Calibri"/>
            </a:endParaRPr>
          </a:p>
          <a:p>
            <a:pPr>
              <a:lnSpc>
                <a:spcPct val="105000"/>
              </a:lnSpc>
              <a:spcAft>
                <a:spcPts val="1200"/>
              </a:spcAft>
            </a:pPr>
            <a:r>
              <a:rPr sz="1400" b="0" i="0">
                <a:solidFill>
                  <a:srgbClr val="333333"/>
                </a:solidFill>
                <a:latin typeface="Calibri"/>
              </a:rPr>
              <a:t>• Answers both “Is there a tumor?” and “Where exactly is it?” in a single workflow</a:t>
            </a:r>
            <a:endParaRPr sz="1400" b="0" i="0">
              <a:solidFill>
                <a:srgbClr val="333333"/>
              </a:solidFill>
              <a:latin typeface="Calibri"/>
            </a:endParaRPr>
          </a:p>
        </p:txBody>
      </p:sp>
      <p:pic>
        <p:nvPicPr>
          <p:cNvPr id="7" name="Picture 6" descr="fig2_framework.png"/>
          <p:cNvPicPr>
            <a:picLocks noChangeAspect="1"/>
          </p:cNvPicPr>
          <p:nvPr/>
        </p:nvPicPr>
        <p:blipFill>
          <a:blip r:embed="rId1"/>
          <a:stretch>
            <a:fillRect/>
          </a:stretch>
        </p:blipFill>
        <p:spPr>
          <a:xfrm>
            <a:off x="7222490" y="1782445"/>
            <a:ext cx="4193540" cy="43440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 Dataset, Preprocessing &amp; Augmentation</a:t>
            </a:r>
            <a:endParaRPr lang="en-IN" dirty="0"/>
          </a:p>
        </p:txBody>
      </p:sp>
      <p:sp>
        <p:nvSpPr>
          <p:cNvPr id="3" name="Date Placeholder 2"/>
          <p:cNvSpPr>
            <a:spLocks noGrp="1"/>
          </p:cNvSpPr>
          <p:nvPr>
            <p:ph type="dt" sz="half" idx="10"/>
          </p:nvPr>
        </p:nvSpPr>
        <p:spPr/>
        <p:txBody>
          <a:bodyPr/>
          <a:lstStyle/>
          <a:p>
            <a:fld id="{B6833C6A-C54F-4577-AC6E-3738689B24F1}"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83080"/>
            <a:ext cx="5394960" cy="411480"/>
          </a:xfrm>
          <a:prstGeom prst="rect">
            <a:avLst/>
          </a:prstGeom>
          <a:noFill/>
        </p:spPr>
        <p:txBody>
          <a:bodyPr wrap="square">
            <a:spAutoFit/>
          </a:bodyPr>
          <a:lstStyle/>
          <a:p>
            <a:r>
              <a:rPr sz="1700" b="1" i="0">
                <a:solidFill>
                  <a:srgbClr val="BD582C"/>
                </a:solidFill>
                <a:latin typeface="Calibri"/>
              </a:rPr>
              <a:t>Dataset</a:t>
            </a:r>
            <a:endParaRPr sz="1700" b="1" i="0">
              <a:solidFill>
                <a:srgbClr val="BD582C"/>
              </a:solidFill>
              <a:latin typeface="Calibri"/>
            </a:endParaRPr>
          </a:p>
        </p:txBody>
      </p:sp>
      <p:sp>
        <p:nvSpPr>
          <p:cNvPr id="7" name="TextBox 6"/>
          <p:cNvSpPr txBox="1"/>
          <p:nvPr/>
        </p:nvSpPr>
        <p:spPr>
          <a:xfrm>
            <a:off x="822960" y="2194560"/>
            <a:ext cx="5394960" cy="1554480"/>
          </a:xfrm>
          <a:prstGeom prst="rect">
            <a:avLst/>
          </a:prstGeom>
          <a:noFill/>
        </p:spPr>
        <p:txBody>
          <a:bodyPr wrap="square">
            <a:spAutoFit/>
          </a:bodyPr>
          <a:lstStyle/>
          <a:p>
            <a:pPr>
              <a:lnSpc>
                <a:spcPct val="105000"/>
              </a:lnSpc>
              <a:spcAft>
                <a:spcPts val="800"/>
              </a:spcAft>
            </a:pPr>
            <a:r>
              <a:rPr sz="1300" b="0" i="0">
                <a:solidFill>
                  <a:srgbClr val="333333"/>
                </a:solidFill>
                <a:latin typeface="Calibri"/>
              </a:rPr>
              <a:t>• Total MRI images: 3,929 (Kaggle Brain MRI + BraTS repositories)</a:t>
            </a:r>
            <a:endParaRPr sz="1300" b="0" i="0">
              <a:solidFill>
                <a:srgbClr val="333333"/>
              </a:solidFill>
              <a:latin typeface="Calibri"/>
            </a:endParaRPr>
          </a:p>
          <a:p>
            <a:pPr>
              <a:lnSpc>
                <a:spcPct val="105000"/>
              </a:lnSpc>
              <a:spcAft>
                <a:spcPts val="800"/>
              </a:spcAft>
            </a:pPr>
            <a:r>
              <a:rPr sz="1300" b="0" i="0">
                <a:solidFill>
                  <a:srgbClr val="333333"/>
                </a:solidFill>
                <a:latin typeface="Calibri"/>
              </a:rPr>
              <a:t>• Categories: Glioma, Meningioma, Pituitary Tumor, Non-Tumor</a:t>
            </a:r>
            <a:endParaRPr sz="1300" b="0" i="0">
              <a:solidFill>
                <a:srgbClr val="333333"/>
              </a:solidFill>
              <a:latin typeface="Calibri"/>
            </a:endParaRPr>
          </a:p>
          <a:p>
            <a:pPr>
              <a:lnSpc>
                <a:spcPct val="105000"/>
              </a:lnSpc>
              <a:spcAft>
                <a:spcPts val="800"/>
              </a:spcAft>
            </a:pPr>
            <a:r>
              <a:rPr sz="1300" b="0" i="0">
                <a:solidFill>
                  <a:srgbClr val="333333"/>
                </a:solidFill>
                <a:latin typeface="Calibri"/>
              </a:rPr>
              <a:t>• Split: 70% train / 20% validation / 10% test, plus 5-fold cross-validation</a:t>
            </a:r>
            <a:endParaRPr sz="1300" b="0" i="0">
              <a:solidFill>
                <a:srgbClr val="333333"/>
              </a:solidFill>
              <a:latin typeface="Calibri"/>
            </a:endParaRPr>
          </a:p>
        </p:txBody>
      </p:sp>
      <p:sp>
        <p:nvSpPr>
          <p:cNvPr id="8" name="TextBox 7"/>
          <p:cNvSpPr txBox="1"/>
          <p:nvPr/>
        </p:nvSpPr>
        <p:spPr>
          <a:xfrm>
            <a:off x="822960" y="3794760"/>
            <a:ext cx="5394960" cy="411480"/>
          </a:xfrm>
          <a:prstGeom prst="rect">
            <a:avLst/>
          </a:prstGeom>
          <a:noFill/>
        </p:spPr>
        <p:txBody>
          <a:bodyPr wrap="square">
            <a:spAutoFit/>
          </a:bodyPr>
          <a:lstStyle/>
          <a:p>
            <a:r>
              <a:rPr sz="1700" b="1" i="0">
                <a:solidFill>
                  <a:srgbClr val="BD582C"/>
                </a:solidFill>
                <a:latin typeface="Calibri"/>
              </a:rPr>
              <a:t>Preprocessing</a:t>
            </a:r>
            <a:endParaRPr sz="1700" b="1" i="0">
              <a:solidFill>
                <a:srgbClr val="BD582C"/>
              </a:solidFill>
              <a:latin typeface="Calibri"/>
            </a:endParaRPr>
          </a:p>
        </p:txBody>
      </p:sp>
      <p:sp>
        <p:nvSpPr>
          <p:cNvPr id="9" name="TextBox 8"/>
          <p:cNvSpPr txBox="1"/>
          <p:nvPr/>
        </p:nvSpPr>
        <p:spPr>
          <a:xfrm>
            <a:off x="822960" y="4160520"/>
            <a:ext cx="5394960" cy="914400"/>
          </a:xfrm>
          <a:prstGeom prst="rect">
            <a:avLst/>
          </a:prstGeom>
          <a:noFill/>
        </p:spPr>
        <p:txBody>
          <a:bodyPr wrap="square">
            <a:spAutoFit/>
          </a:bodyPr>
          <a:lstStyle/>
          <a:p>
            <a:pPr>
              <a:lnSpc>
                <a:spcPct val="105000"/>
              </a:lnSpc>
              <a:spcAft>
                <a:spcPts val="800"/>
              </a:spcAft>
            </a:pPr>
            <a:r>
              <a:rPr sz="1300" b="0" i="0">
                <a:solidFill>
                  <a:srgbClr val="333333"/>
                </a:solidFill>
                <a:latin typeface="Calibri"/>
              </a:rPr>
              <a:t>• Image resizing • Pixel normalization (0–1) • Contrast enhancement</a:t>
            </a:r>
            <a:endParaRPr sz="1300" b="0" i="0">
              <a:solidFill>
                <a:srgbClr val="333333"/>
              </a:solidFill>
              <a:latin typeface="Calibri"/>
            </a:endParaRPr>
          </a:p>
          <a:p>
            <a:pPr>
              <a:lnSpc>
                <a:spcPct val="105000"/>
              </a:lnSpc>
              <a:spcAft>
                <a:spcPts val="800"/>
              </a:spcAft>
            </a:pPr>
            <a:r>
              <a:rPr sz="1300" b="0" i="0">
                <a:solidFill>
                  <a:srgbClr val="333333"/>
                </a:solidFill>
                <a:latin typeface="Calibri"/>
              </a:rPr>
              <a:t>• Gaussian filtering for noise removal • Removal of corrupted images</a:t>
            </a:r>
            <a:endParaRPr sz="1300" b="0" i="0">
              <a:solidFill>
                <a:srgbClr val="333333"/>
              </a:solidFill>
              <a:latin typeface="Calibri"/>
            </a:endParaRPr>
          </a:p>
        </p:txBody>
      </p:sp>
      <p:sp>
        <p:nvSpPr>
          <p:cNvPr id="10" name="TextBox 9"/>
          <p:cNvSpPr txBox="1"/>
          <p:nvPr/>
        </p:nvSpPr>
        <p:spPr>
          <a:xfrm>
            <a:off x="822960" y="5029200"/>
            <a:ext cx="5394960" cy="411480"/>
          </a:xfrm>
          <a:prstGeom prst="rect">
            <a:avLst/>
          </a:prstGeom>
          <a:noFill/>
        </p:spPr>
        <p:txBody>
          <a:bodyPr wrap="square">
            <a:spAutoFit/>
          </a:bodyPr>
          <a:lstStyle/>
          <a:p>
            <a:r>
              <a:rPr sz="1700" b="1" i="0">
                <a:solidFill>
                  <a:srgbClr val="BD582C"/>
                </a:solidFill>
                <a:latin typeface="Calibri"/>
              </a:rPr>
              <a:t>Augmentation</a:t>
            </a:r>
            <a:endParaRPr sz="1700" b="1" i="0">
              <a:solidFill>
                <a:srgbClr val="BD582C"/>
              </a:solidFill>
              <a:latin typeface="Calibri"/>
            </a:endParaRPr>
          </a:p>
        </p:txBody>
      </p:sp>
      <p:sp>
        <p:nvSpPr>
          <p:cNvPr id="11" name="TextBox 10"/>
          <p:cNvSpPr txBox="1"/>
          <p:nvPr/>
        </p:nvSpPr>
        <p:spPr>
          <a:xfrm>
            <a:off x="822960" y="5394960"/>
            <a:ext cx="5394960" cy="640080"/>
          </a:xfrm>
          <a:prstGeom prst="rect">
            <a:avLst/>
          </a:prstGeom>
          <a:noFill/>
        </p:spPr>
        <p:txBody>
          <a:bodyPr wrap="square">
            <a:spAutoFit/>
          </a:bodyPr>
          <a:lstStyle/>
          <a:p>
            <a:pPr>
              <a:lnSpc>
                <a:spcPct val="105000"/>
              </a:lnSpc>
              <a:spcAft>
                <a:spcPts val="600"/>
              </a:spcAft>
            </a:pPr>
            <a:r>
              <a:rPr sz="1300" b="0" i="0">
                <a:solidFill>
                  <a:srgbClr val="333333"/>
                </a:solidFill>
                <a:latin typeface="Calibri"/>
              </a:rPr>
              <a:t>• Random rotation, horizontal/vertical flip, zoom, width/height shift, brightness adjustment, Gaussian noise injection</a:t>
            </a:r>
            <a:endParaRPr sz="1300" b="0" i="0">
              <a:solidFill>
                <a:srgbClr val="333333"/>
              </a:solidFill>
              <a:latin typeface="Calibri"/>
            </a:endParaRPr>
          </a:p>
        </p:txBody>
      </p:sp>
      <p:pic>
        <p:nvPicPr>
          <p:cNvPr id="12" name="Picture 11" descr="fig3_augmentation.png"/>
          <p:cNvPicPr>
            <a:picLocks noChangeAspect="1"/>
          </p:cNvPicPr>
          <p:nvPr/>
        </p:nvPicPr>
        <p:blipFill>
          <a:blip r:embed="rId1"/>
          <a:stretch>
            <a:fillRect/>
          </a:stretch>
        </p:blipFill>
        <p:spPr>
          <a:xfrm>
            <a:off x="6583680" y="1782445"/>
            <a:ext cx="4206240" cy="4034790"/>
          </a:xfrm>
          <a:prstGeom prst="rect">
            <a:avLst/>
          </a:prstGeom>
        </p:spPr>
      </p:pic>
      <p:sp>
        <p:nvSpPr>
          <p:cNvPr id="13" name="TextBox 12"/>
          <p:cNvSpPr txBox="1"/>
          <p:nvPr/>
        </p:nvSpPr>
        <p:spPr>
          <a:xfrm>
            <a:off x="6583680" y="5806440"/>
            <a:ext cx="4206240" cy="320040"/>
          </a:xfrm>
          <a:prstGeom prst="rect">
            <a:avLst/>
          </a:prstGeom>
          <a:noFill/>
        </p:spPr>
        <p:txBody>
          <a:bodyPr wrap="square">
            <a:spAutoFit/>
          </a:bodyPr>
          <a:lstStyle/>
          <a:p>
            <a:pPr algn="ctr"/>
            <a:r>
              <a:rPr sz="900" b="0" i="1">
                <a:solidFill>
                  <a:srgbClr val="666666"/>
                </a:solidFill>
                <a:latin typeface="Calibri"/>
              </a:rPr>
              <a:t>Fig. Augmented MRI images and corresponding tumor masks</a:t>
            </a:r>
            <a:endParaRPr sz="900" b="0" i="1">
              <a:solidFill>
                <a:srgbClr val="666666"/>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 Model Design &amp; Training Configuration</a:t>
            </a:r>
            <a:endParaRPr lang="en-IN" dirty="0"/>
          </a:p>
        </p:txBody>
      </p:sp>
      <p:sp>
        <p:nvSpPr>
          <p:cNvPr id="3" name="Date Placeholder 2"/>
          <p:cNvSpPr>
            <a:spLocks noGrp="1"/>
          </p:cNvSpPr>
          <p:nvPr>
            <p:ph type="dt" sz="half" idx="10"/>
          </p:nvPr>
        </p:nvSpPr>
        <p:spPr/>
        <p:txBody>
          <a:bodyPr/>
          <a:lstStyle/>
          <a:p>
            <a:fld id="{B6833C6A-C54F-4577-AC6E-3738689B24F1}"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83080"/>
            <a:ext cx="5029200" cy="411480"/>
          </a:xfrm>
          <a:prstGeom prst="rect">
            <a:avLst/>
          </a:prstGeom>
          <a:noFill/>
        </p:spPr>
        <p:txBody>
          <a:bodyPr wrap="square">
            <a:spAutoFit/>
          </a:bodyPr>
          <a:lstStyle/>
          <a:p>
            <a:r>
              <a:rPr sz="1700" b="1" i="0">
                <a:solidFill>
                  <a:srgbClr val="BD582C"/>
                </a:solidFill>
                <a:latin typeface="Calibri"/>
              </a:rPr>
              <a:t>ResNet50 (Classification)</a:t>
            </a:r>
            <a:endParaRPr sz="1700" b="1" i="0">
              <a:solidFill>
                <a:srgbClr val="BD582C"/>
              </a:solidFill>
              <a:latin typeface="Calibri"/>
            </a:endParaRPr>
          </a:p>
        </p:txBody>
      </p:sp>
      <p:sp>
        <p:nvSpPr>
          <p:cNvPr id="7" name="TextBox 6"/>
          <p:cNvSpPr txBox="1"/>
          <p:nvPr/>
        </p:nvSpPr>
        <p:spPr>
          <a:xfrm>
            <a:off x="822960" y="2194560"/>
            <a:ext cx="5029200" cy="1737360"/>
          </a:xfrm>
          <a:prstGeom prst="rect">
            <a:avLst/>
          </a:prstGeom>
          <a:noFill/>
        </p:spPr>
        <p:txBody>
          <a:bodyPr wrap="square">
            <a:spAutoFit/>
          </a:bodyPr>
          <a:lstStyle/>
          <a:p>
            <a:pPr>
              <a:lnSpc>
                <a:spcPct val="105000"/>
              </a:lnSpc>
              <a:spcAft>
                <a:spcPts val="800"/>
              </a:spcAft>
            </a:pPr>
            <a:r>
              <a:rPr sz="1300" b="0" i="0">
                <a:solidFill>
                  <a:srgbClr val="333333"/>
                </a:solidFill>
                <a:latin typeface="Calibri"/>
              </a:rPr>
              <a:t>• Transfer learning with ImageNet pre-trained weights</a:t>
            </a:r>
            <a:endParaRPr sz="1300" b="0" i="0">
              <a:solidFill>
                <a:srgbClr val="333333"/>
              </a:solidFill>
              <a:latin typeface="Calibri"/>
            </a:endParaRPr>
          </a:p>
          <a:p>
            <a:pPr>
              <a:lnSpc>
                <a:spcPct val="105000"/>
              </a:lnSpc>
              <a:spcAft>
                <a:spcPts val="800"/>
              </a:spcAft>
            </a:pPr>
            <a:r>
              <a:rPr sz="1300" b="0" i="0">
                <a:solidFill>
                  <a:srgbClr val="333333"/>
                </a:solidFill>
                <a:latin typeface="Calibri"/>
              </a:rPr>
              <a:t>• Residual learning blocks for efficient gradient propagation</a:t>
            </a:r>
            <a:endParaRPr sz="1300" b="0" i="0">
              <a:solidFill>
                <a:srgbClr val="333333"/>
              </a:solidFill>
              <a:latin typeface="Calibri"/>
            </a:endParaRPr>
          </a:p>
          <a:p>
            <a:pPr>
              <a:lnSpc>
                <a:spcPct val="105000"/>
              </a:lnSpc>
              <a:spcAft>
                <a:spcPts val="800"/>
              </a:spcAft>
            </a:pPr>
            <a:r>
              <a:rPr sz="1300" b="0" i="0">
                <a:solidFill>
                  <a:srgbClr val="333333"/>
                </a:solidFill>
                <a:latin typeface="Calibri"/>
              </a:rPr>
              <a:t>• Global average pooling → fully connected layers → softmax output</a:t>
            </a:r>
            <a:endParaRPr sz="1300" b="0" i="0">
              <a:solidFill>
                <a:srgbClr val="333333"/>
              </a:solidFill>
              <a:latin typeface="Calibri"/>
            </a:endParaRPr>
          </a:p>
        </p:txBody>
      </p:sp>
      <p:sp>
        <p:nvSpPr>
          <p:cNvPr id="8" name="TextBox 7"/>
          <p:cNvSpPr txBox="1"/>
          <p:nvPr/>
        </p:nvSpPr>
        <p:spPr>
          <a:xfrm>
            <a:off x="822960" y="3977639"/>
            <a:ext cx="5029200" cy="411480"/>
          </a:xfrm>
          <a:prstGeom prst="rect">
            <a:avLst/>
          </a:prstGeom>
          <a:noFill/>
        </p:spPr>
        <p:txBody>
          <a:bodyPr wrap="square">
            <a:spAutoFit/>
          </a:bodyPr>
          <a:lstStyle/>
          <a:p>
            <a:r>
              <a:rPr sz="1700" b="1" i="0">
                <a:solidFill>
                  <a:srgbClr val="BD582C"/>
                </a:solidFill>
                <a:latin typeface="Calibri"/>
              </a:rPr>
              <a:t>ResUNet (Segmentation)</a:t>
            </a:r>
            <a:endParaRPr sz="1700" b="1" i="0">
              <a:solidFill>
                <a:srgbClr val="BD582C"/>
              </a:solidFill>
              <a:latin typeface="Calibri"/>
            </a:endParaRPr>
          </a:p>
        </p:txBody>
      </p:sp>
      <p:sp>
        <p:nvSpPr>
          <p:cNvPr id="9" name="TextBox 8"/>
          <p:cNvSpPr txBox="1"/>
          <p:nvPr/>
        </p:nvSpPr>
        <p:spPr>
          <a:xfrm>
            <a:off x="822960" y="4343400"/>
            <a:ext cx="5029200" cy="1737360"/>
          </a:xfrm>
          <a:prstGeom prst="rect">
            <a:avLst/>
          </a:prstGeom>
          <a:noFill/>
        </p:spPr>
        <p:txBody>
          <a:bodyPr wrap="square">
            <a:spAutoFit/>
          </a:bodyPr>
          <a:lstStyle/>
          <a:p>
            <a:pPr>
              <a:lnSpc>
                <a:spcPct val="105000"/>
              </a:lnSpc>
              <a:spcAft>
                <a:spcPts val="800"/>
              </a:spcAft>
            </a:pPr>
            <a:r>
              <a:rPr sz="1300" b="0" i="0">
                <a:solidFill>
                  <a:srgbClr val="333333"/>
                </a:solidFill>
                <a:latin typeface="Calibri"/>
              </a:rPr>
              <a:t>• Encoder–decoder architecture with residual blocks</a:t>
            </a:r>
            <a:endParaRPr sz="1300" b="0" i="0">
              <a:solidFill>
                <a:srgbClr val="333333"/>
              </a:solidFill>
              <a:latin typeface="Calibri"/>
            </a:endParaRPr>
          </a:p>
          <a:p>
            <a:pPr>
              <a:lnSpc>
                <a:spcPct val="105000"/>
              </a:lnSpc>
              <a:spcAft>
                <a:spcPts val="800"/>
              </a:spcAft>
            </a:pPr>
            <a:r>
              <a:rPr sz="1300" b="0" i="0">
                <a:solidFill>
                  <a:srgbClr val="333333"/>
                </a:solidFill>
                <a:latin typeface="Calibri"/>
              </a:rPr>
              <a:t>• Skip connections preserve spatial information for accurate boundaries</a:t>
            </a:r>
            <a:endParaRPr sz="1300" b="0" i="0">
              <a:solidFill>
                <a:srgbClr val="333333"/>
              </a:solidFill>
              <a:latin typeface="Calibri"/>
            </a:endParaRPr>
          </a:p>
          <a:p>
            <a:pPr>
              <a:lnSpc>
                <a:spcPct val="105000"/>
              </a:lnSpc>
              <a:spcAft>
                <a:spcPts val="800"/>
              </a:spcAft>
            </a:pPr>
            <a:r>
              <a:rPr sz="1300" b="0" i="0">
                <a:solidFill>
                  <a:srgbClr val="333333"/>
                </a:solidFill>
                <a:latin typeface="Calibri"/>
              </a:rPr>
              <a:t>• Output: binary pixel-wise tumor mask</a:t>
            </a:r>
            <a:endParaRPr sz="1300" b="0" i="0">
              <a:solidFill>
                <a:srgbClr val="333333"/>
              </a:solidFill>
              <a:latin typeface="Calibri"/>
            </a:endParaRPr>
          </a:p>
        </p:txBody>
      </p:sp>
      <p:graphicFrame>
        <p:nvGraphicFramePr>
          <p:cNvPr id="10" name="Table 9"/>
          <p:cNvGraphicFramePr>
            <a:graphicFrameLocks noGrp="1"/>
          </p:cNvGraphicFramePr>
          <p:nvPr/>
        </p:nvGraphicFramePr>
        <p:xfrm>
          <a:off x="6172200" y="1828800"/>
          <a:ext cx="5166360" cy="2834640"/>
        </p:xfrm>
        <a:graphic>
          <a:graphicData uri="http://schemas.openxmlformats.org/drawingml/2006/table">
            <a:tbl>
              <a:tblPr firstRow="1" bandRow="1">
                <a:tableStyleId>{5C22544A-7EE6-4342-B048-85BDC9FD1C3A}</a:tableStyleId>
              </a:tblPr>
              <a:tblGrid>
                <a:gridCol w="1722120"/>
                <a:gridCol w="1722120"/>
                <a:gridCol w="1722120"/>
              </a:tblGrid>
              <a:tr h="404948">
                <a:tc>
                  <a:txBody>
                    <a:bodyPr/>
                    <a:lstStyle/>
                    <a:p>
                      <a:pPr algn="l"/>
                      <a:r>
                        <a:rPr sz="1200" b="1" i="0">
                          <a:solidFill>
                            <a:srgbClr val="FFFFFF"/>
                          </a:solidFill>
                          <a:latin typeface="Calibri"/>
                        </a:rPr>
                        <a:t>Parameter</a:t>
                      </a:r>
                      <a:endParaRPr sz="1200" b="1" i="0">
                        <a:solidFill>
                          <a:srgbClr val="FFFFFF"/>
                        </a:solidFill>
                        <a:latin typeface="Calibri"/>
                      </a:endParaRPr>
                    </a:p>
                  </a:txBody>
                  <a:tcPr marL="76200" marR="76200" marT="38100" marB="38100" anchor="ctr">
                    <a:solidFill>
                      <a:srgbClr val="BD582C"/>
                    </a:solidFill>
                  </a:tcPr>
                </a:tc>
                <a:tc>
                  <a:txBody>
                    <a:bodyPr/>
                    <a:lstStyle/>
                    <a:p>
                      <a:pPr algn="ctr"/>
                      <a:r>
                        <a:rPr sz="1200" b="1" i="0">
                          <a:solidFill>
                            <a:srgbClr val="FFFFFF"/>
                          </a:solidFill>
                          <a:latin typeface="Calibri"/>
                        </a:rPr>
                        <a:t>Classification</a:t>
                      </a:r>
                      <a:endParaRPr sz="1200" b="1" i="0">
                        <a:solidFill>
                          <a:srgbClr val="FFFFFF"/>
                        </a:solidFill>
                        <a:latin typeface="Calibri"/>
                      </a:endParaRPr>
                    </a:p>
                  </a:txBody>
                  <a:tcPr marL="76200" marR="76200" marT="38100" marB="38100" anchor="ctr">
                    <a:solidFill>
                      <a:srgbClr val="BD582C"/>
                    </a:solidFill>
                  </a:tcPr>
                </a:tc>
                <a:tc>
                  <a:txBody>
                    <a:bodyPr/>
                    <a:lstStyle/>
                    <a:p>
                      <a:pPr algn="ctr"/>
                      <a:r>
                        <a:rPr sz="1200" b="1" i="0">
                          <a:solidFill>
                            <a:srgbClr val="FFFFFF"/>
                          </a:solidFill>
                          <a:latin typeface="Calibri"/>
                        </a:rPr>
                        <a:t>Segmentation</a:t>
                      </a:r>
                      <a:endParaRPr sz="1200" b="1" i="0">
                        <a:solidFill>
                          <a:srgbClr val="FFFFFF"/>
                        </a:solidFill>
                        <a:latin typeface="Calibri"/>
                      </a:endParaRPr>
                    </a:p>
                  </a:txBody>
                  <a:tcPr marL="76200" marR="76200" marT="38100" marB="38100" anchor="ctr">
                    <a:solidFill>
                      <a:srgbClr val="BD582C"/>
                    </a:solidFill>
                  </a:tcPr>
                </a:tc>
              </a:tr>
              <a:tr h="404948">
                <a:tc>
                  <a:txBody>
                    <a:bodyPr/>
                    <a:lstStyle/>
                    <a:p>
                      <a:pPr algn="l"/>
                      <a:r>
                        <a:rPr sz="1100" b="1" i="0">
                          <a:solidFill>
                            <a:srgbClr val="333333"/>
                          </a:solidFill>
                          <a:latin typeface="Calibri"/>
                        </a:rPr>
                        <a:t>Optimizer</a:t>
                      </a:r>
                      <a:endParaRPr sz="1100" b="1" i="0">
                        <a:solidFill>
                          <a:srgbClr val="333333"/>
                        </a:solidFill>
                        <a:latin typeface="Calibri"/>
                      </a:endParaRPr>
                    </a:p>
                  </a:txBody>
                  <a:tcPr marL="76200" marR="76200" marT="38100" marB="38100" anchor="ctr">
                    <a:solidFill>
                      <a:srgbClr val="FFFFFF"/>
                    </a:solidFill>
                  </a:tcPr>
                </a:tc>
                <a:tc>
                  <a:txBody>
                    <a:bodyPr/>
                    <a:lstStyle/>
                    <a:p>
                      <a:pPr algn="ctr"/>
                      <a:r>
                        <a:rPr sz="1100" b="0" i="0">
                          <a:solidFill>
                            <a:srgbClr val="333333"/>
                          </a:solidFill>
                          <a:latin typeface="Calibri"/>
                        </a:rPr>
                        <a:t>Adam</a:t>
                      </a:r>
                      <a:endParaRPr sz="1100" b="0" i="0">
                        <a:solidFill>
                          <a:srgbClr val="333333"/>
                        </a:solidFill>
                        <a:latin typeface="Calibri"/>
                      </a:endParaRPr>
                    </a:p>
                  </a:txBody>
                  <a:tcPr marL="76200" marR="76200" marT="38100" marB="38100" anchor="ctr">
                    <a:solidFill>
                      <a:srgbClr val="FFFFFF"/>
                    </a:solidFill>
                  </a:tcPr>
                </a:tc>
                <a:tc>
                  <a:txBody>
                    <a:bodyPr/>
                    <a:lstStyle/>
                    <a:p>
                      <a:pPr algn="ctr"/>
                      <a:r>
                        <a:rPr sz="1100" b="0" i="0">
                          <a:solidFill>
                            <a:srgbClr val="333333"/>
                          </a:solidFill>
                          <a:latin typeface="Calibri"/>
                        </a:rPr>
                        <a:t>Adam</a:t>
                      </a:r>
                      <a:endParaRPr sz="1100" b="0" i="0">
                        <a:solidFill>
                          <a:srgbClr val="333333"/>
                        </a:solidFill>
                        <a:latin typeface="Calibri"/>
                      </a:endParaRPr>
                    </a:p>
                  </a:txBody>
                  <a:tcPr marL="76200" marR="76200" marT="38100" marB="38100" anchor="ctr">
                    <a:solidFill>
                      <a:srgbClr val="FFFFFF"/>
                    </a:solidFill>
                  </a:tcPr>
                </a:tc>
              </a:tr>
              <a:tr h="404948">
                <a:tc>
                  <a:txBody>
                    <a:bodyPr/>
                    <a:lstStyle/>
                    <a:p>
                      <a:pPr algn="l"/>
                      <a:r>
                        <a:rPr sz="1100" b="1" i="0">
                          <a:solidFill>
                            <a:srgbClr val="333333"/>
                          </a:solidFill>
                          <a:latin typeface="Calibri"/>
                        </a:rPr>
                        <a:t>Learning Rate</a:t>
                      </a:r>
                      <a:endParaRPr sz="1100" b="1" i="0">
                        <a:solidFill>
                          <a:srgbClr val="333333"/>
                        </a:solidFill>
                        <a:latin typeface="Calibri"/>
                      </a:endParaRPr>
                    </a:p>
                  </a:txBody>
                  <a:tcPr marL="76200" marR="76200" marT="38100" marB="38100" anchor="ctr">
                    <a:solidFill>
                      <a:srgbClr val="F7F0EA"/>
                    </a:solidFill>
                  </a:tcPr>
                </a:tc>
                <a:tc>
                  <a:txBody>
                    <a:bodyPr/>
                    <a:lstStyle/>
                    <a:p>
                      <a:pPr algn="ctr"/>
                      <a:r>
                        <a:rPr sz="1100" b="0" i="0">
                          <a:solidFill>
                            <a:srgbClr val="333333"/>
                          </a:solidFill>
                          <a:latin typeface="Calibri"/>
                        </a:rPr>
                        <a:t>0.0002</a:t>
                      </a:r>
                      <a:endParaRPr sz="1100" b="0" i="0">
                        <a:solidFill>
                          <a:srgbClr val="333333"/>
                        </a:solidFill>
                        <a:latin typeface="Calibri"/>
                      </a:endParaRPr>
                    </a:p>
                  </a:txBody>
                  <a:tcPr marL="76200" marR="76200" marT="38100" marB="38100" anchor="ctr">
                    <a:solidFill>
                      <a:srgbClr val="F7F0EA"/>
                    </a:solidFill>
                  </a:tcPr>
                </a:tc>
                <a:tc>
                  <a:txBody>
                    <a:bodyPr/>
                    <a:lstStyle/>
                    <a:p>
                      <a:pPr algn="ctr"/>
                      <a:r>
                        <a:rPr sz="1100" b="0" i="0">
                          <a:solidFill>
                            <a:srgbClr val="333333"/>
                          </a:solidFill>
                          <a:latin typeface="Calibri"/>
                        </a:rPr>
                        <a:t>0.0002</a:t>
                      </a:r>
                      <a:endParaRPr sz="1100" b="0" i="0">
                        <a:solidFill>
                          <a:srgbClr val="333333"/>
                        </a:solidFill>
                        <a:latin typeface="Calibri"/>
                      </a:endParaRPr>
                    </a:p>
                  </a:txBody>
                  <a:tcPr marL="76200" marR="76200" marT="38100" marB="38100" anchor="ctr">
                    <a:solidFill>
                      <a:srgbClr val="F7F0EA"/>
                    </a:solidFill>
                  </a:tcPr>
                </a:tc>
              </a:tr>
              <a:tr h="404948">
                <a:tc>
                  <a:txBody>
                    <a:bodyPr/>
                    <a:lstStyle/>
                    <a:p>
                      <a:pPr algn="l"/>
                      <a:r>
                        <a:rPr sz="1100" b="1" i="0">
                          <a:solidFill>
                            <a:srgbClr val="333333"/>
                          </a:solidFill>
                          <a:latin typeface="Calibri"/>
                        </a:rPr>
                        <a:t>Batch Size</a:t>
                      </a:r>
                      <a:endParaRPr sz="1100" b="1" i="0">
                        <a:solidFill>
                          <a:srgbClr val="333333"/>
                        </a:solidFill>
                        <a:latin typeface="Calibri"/>
                      </a:endParaRPr>
                    </a:p>
                  </a:txBody>
                  <a:tcPr marL="76200" marR="76200" marT="38100" marB="38100" anchor="ctr">
                    <a:solidFill>
                      <a:srgbClr val="FFFFFF"/>
                    </a:solidFill>
                  </a:tcPr>
                </a:tc>
                <a:tc>
                  <a:txBody>
                    <a:bodyPr/>
                    <a:lstStyle/>
                    <a:p>
                      <a:pPr algn="ctr"/>
                      <a:r>
                        <a:rPr sz="1100" b="0" i="0">
                          <a:solidFill>
                            <a:srgbClr val="333333"/>
                          </a:solidFill>
                          <a:latin typeface="Calibri"/>
                        </a:rPr>
                        <a:t>16</a:t>
                      </a:r>
                      <a:endParaRPr sz="1100" b="0" i="0">
                        <a:solidFill>
                          <a:srgbClr val="333333"/>
                        </a:solidFill>
                        <a:latin typeface="Calibri"/>
                      </a:endParaRPr>
                    </a:p>
                  </a:txBody>
                  <a:tcPr marL="76200" marR="76200" marT="38100" marB="38100" anchor="ctr">
                    <a:solidFill>
                      <a:srgbClr val="FFFFFF"/>
                    </a:solidFill>
                  </a:tcPr>
                </a:tc>
                <a:tc>
                  <a:txBody>
                    <a:bodyPr/>
                    <a:lstStyle/>
                    <a:p>
                      <a:pPr algn="ctr"/>
                      <a:r>
                        <a:rPr sz="1100" b="0" i="0">
                          <a:solidFill>
                            <a:srgbClr val="333333"/>
                          </a:solidFill>
                          <a:latin typeface="Calibri"/>
                        </a:rPr>
                        <a:t>32</a:t>
                      </a:r>
                      <a:endParaRPr sz="1100" b="0" i="0">
                        <a:solidFill>
                          <a:srgbClr val="333333"/>
                        </a:solidFill>
                        <a:latin typeface="Calibri"/>
                      </a:endParaRPr>
                    </a:p>
                  </a:txBody>
                  <a:tcPr marL="76200" marR="76200" marT="38100" marB="38100" anchor="ctr">
                    <a:solidFill>
                      <a:srgbClr val="FFFFFF"/>
                    </a:solidFill>
                  </a:tcPr>
                </a:tc>
              </a:tr>
              <a:tr h="404948">
                <a:tc>
                  <a:txBody>
                    <a:bodyPr/>
                    <a:lstStyle/>
                    <a:p>
                      <a:pPr algn="l"/>
                      <a:r>
                        <a:rPr sz="1100" b="1" i="0">
                          <a:solidFill>
                            <a:srgbClr val="333333"/>
                          </a:solidFill>
                          <a:latin typeface="Calibri"/>
                        </a:rPr>
                        <a:t>Epochs</a:t>
                      </a:r>
                      <a:endParaRPr sz="1100" b="1" i="0">
                        <a:solidFill>
                          <a:srgbClr val="333333"/>
                        </a:solidFill>
                        <a:latin typeface="Calibri"/>
                      </a:endParaRPr>
                    </a:p>
                  </a:txBody>
                  <a:tcPr marL="76200" marR="76200" marT="38100" marB="38100" anchor="ctr">
                    <a:solidFill>
                      <a:srgbClr val="F7F0EA"/>
                    </a:solidFill>
                  </a:tcPr>
                </a:tc>
                <a:tc>
                  <a:txBody>
                    <a:bodyPr/>
                    <a:lstStyle/>
                    <a:p>
                      <a:pPr algn="ctr"/>
                      <a:r>
                        <a:rPr sz="1100" b="0" i="0">
                          <a:solidFill>
                            <a:srgbClr val="333333"/>
                          </a:solidFill>
                          <a:latin typeface="Calibri"/>
                        </a:rPr>
                        <a:t>45</a:t>
                      </a:r>
                      <a:endParaRPr sz="1100" b="0" i="0">
                        <a:solidFill>
                          <a:srgbClr val="333333"/>
                        </a:solidFill>
                        <a:latin typeface="Calibri"/>
                      </a:endParaRPr>
                    </a:p>
                  </a:txBody>
                  <a:tcPr marL="76200" marR="76200" marT="38100" marB="38100" anchor="ctr">
                    <a:solidFill>
                      <a:srgbClr val="F7F0EA"/>
                    </a:solidFill>
                  </a:tcPr>
                </a:tc>
                <a:tc>
                  <a:txBody>
                    <a:bodyPr/>
                    <a:lstStyle/>
                    <a:p>
                      <a:pPr algn="ctr"/>
                      <a:r>
                        <a:rPr sz="1100" b="0" i="0">
                          <a:solidFill>
                            <a:srgbClr val="333333"/>
                          </a:solidFill>
                          <a:latin typeface="Calibri"/>
                        </a:rPr>
                        <a:t>90</a:t>
                      </a:r>
                      <a:endParaRPr sz="1100" b="0" i="0">
                        <a:solidFill>
                          <a:srgbClr val="333333"/>
                        </a:solidFill>
                        <a:latin typeface="Calibri"/>
                      </a:endParaRPr>
                    </a:p>
                  </a:txBody>
                  <a:tcPr marL="76200" marR="76200" marT="38100" marB="38100" anchor="ctr">
                    <a:solidFill>
                      <a:srgbClr val="F7F0EA"/>
                    </a:solidFill>
                  </a:tcPr>
                </a:tc>
              </a:tr>
              <a:tr h="404948">
                <a:tc>
                  <a:txBody>
                    <a:bodyPr/>
                    <a:lstStyle/>
                    <a:p>
                      <a:pPr algn="l"/>
                      <a:r>
                        <a:rPr sz="1100" b="1" i="0">
                          <a:solidFill>
                            <a:srgbClr val="333333"/>
                          </a:solidFill>
                          <a:latin typeface="Calibri"/>
                        </a:rPr>
                        <a:t>Loss Function</a:t>
                      </a:r>
                      <a:endParaRPr sz="1100" b="1" i="0">
                        <a:solidFill>
                          <a:srgbClr val="333333"/>
                        </a:solidFill>
                        <a:latin typeface="Calibri"/>
                      </a:endParaRPr>
                    </a:p>
                  </a:txBody>
                  <a:tcPr marL="76200" marR="76200" marT="38100" marB="38100" anchor="ctr">
                    <a:solidFill>
                      <a:srgbClr val="FFFFFF"/>
                    </a:solidFill>
                  </a:tcPr>
                </a:tc>
                <a:tc>
                  <a:txBody>
                    <a:bodyPr/>
                    <a:lstStyle/>
                    <a:p>
                      <a:pPr algn="ctr"/>
                      <a:r>
                        <a:rPr sz="1100" b="0" i="0">
                          <a:solidFill>
                            <a:srgbClr val="333333"/>
                          </a:solidFill>
                          <a:latin typeface="Calibri"/>
                        </a:rPr>
                        <a:t>Categorical Cross-Entropy</a:t>
                      </a:r>
                      <a:endParaRPr sz="1100" b="0" i="0">
                        <a:solidFill>
                          <a:srgbClr val="333333"/>
                        </a:solidFill>
                        <a:latin typeface="Calibri"/>
                      </a:endParaRPr>
                    </a:p>
                  </a:txBody>
                  <a:tcPr marL="76200" marR="76200" marT="38100" marB="38100" anchor="ctr">
                    <a:solidFill>
                      <a:srgbClr val="FFFFFF"/>
                    </a:solidFill>
                  </a:tcPr>
                </a:tc>
                <a:tc>
                  <a:txBody>
                    <a:bodyPr/>
                    <a:lstStyle/>
                    <a:p>
                      <a:pPr algn="ctr"/>
                      <a:r>
                        <a:rPr sz="1100" b="0" i="0">
                          <a:solidFill>
                            <a:srgbClr val="333333"/>
                          </a:solidFill>
                          <a:latin typeface="Calibri"/>
                        </a:rPr>
                        <a:t>Focal Tversky Loss</a:t>
                      </a:r>
                      <a:endParaRPr sz="1100" b="0" i="0">
                        <a:solidFill>
                          <a:srgbClr val="333333"/>
                        </a:solidFill>
                        <a:latin typeface="Calibri"/>
                      </a:endParaRPr>
                    </a:p>
                  </a:txBody>
                  <a:tcPr marL="76200" marR="76200" marT="38100" marB="38100" anchor="ctr">
                    <a:solidFill>
                      <a:srgbClr val="FFFFFF"/>
                    </a:solidFill>
                  </a:tcPr>
                </a:tc>
              </a:tr>
              <a:tr h="404952">
                <a:tc>
                  <a:txBody>
                    <a:bodyPr/>
                    <a:lstStyle/>
                    <a:p>
                      <a:pPr algn="l"/>
                      <a:r>
                        <a:rPr sz="1100" b="1" i="0">
                          <a:solidFill>
                            <a:srgbClr val="333333"/>
                          </a:solidFill>
                          <a:latin typeface="Calibri"/>
                        </a:rPr>
                        <a:t>Metric</a:t>
                      </a:r>
                      <a:endParaRPr sz="1100" b="1" i="0">
                        <a:solidFill>
                          <a:srgbClr val="333333"/>
                        </a:solidFill>
                        <a:latin typeface="Calibri"/>
                      </a:endParaRPr>
                    </a:p>
                  </a:txBody>
                  <a:tcPr marL="76200" marR="76200" marT="38100" marB="38100" anchor="ctr">
                    <a:solidFill>
                      <a:srgbClr val="F7F0EA"/>
                    </a:solidFill>
                  </a:tcPr>
                </a:tc>
                <a:tc>
                  <a:txBody>
                    <a:bodyPr/>
                    <a:lstStyle/>
                    <a:p>
                      <a:pPr algn="ctr"/>
                      <a:r>
                        <a:rPr sz="1100" b="0" i="0">
                          <a:solidFill>
                            <a:srgbClr val="333333"/>
                          </a:solidFill>
                          <a:latin typeface="Calibri"/>
                        </a:rPr>
                        <a:t>Accuracy</a:t>
                      </a:r>
                      <a:endParaRPr sz="1100" b="0" i="0">
                        <a:solidFill>
                          <a:srgbClr val="333333"/>
                        </a:solidFill>
                        <a:latin typeface="Calibri"/>
                      </a:endParaRPr>
                    </a:p>
                  </a:txBody>
                  <a:tcPr marL="76200" marR="76200" marT="38100" marB="38100" anchor="ctr">
                    <a:solidFill>
                      <a:srgbClr val="F7F0EA"/>
                    </a:solidFill>
                  </a:tcPr>
                </a:tc>
                <a:tc>
                  <a:txBody>
                    <a:bodyPr/>
                    <a:lstStyle/>
                    <a:p>
                      <a:pPr algn="ctr"/>
                      <a:r>
                        <a:rPr sz="1100" b="0" i="0">
                          <a:solidFill>
                            <a:srgbClr val="333333"/>
                          </a:solidFill>
                          <a:latin typeface="Calibri"/>
                        </a:rPr>
                        <a:t>Dice Similarity Coefficient</a:t>
                      </a:r>
                      <a:endParaRPr sz="1100" b="0" i="0">
                        <a:solidFill>
                          <a:srgbClr val="333333"/>
                        </a:solidFill>
                        <a:latin typeface="Calibri"/>
                      </a:endParaRPr>
                    </a:p>
                  </a:txBody>
                  <a:tcPr marL="76200" marR="76200" marT="38100" marB="38100" anchor="ctr">
                    <a:solidFill>
                      <a:srgbClr val="F7F0EA"/>
                    </a:solidFill>
                  </a:tcPr>
                </a:tc>
              </a:tr>
            </a:tbl>
          </a:graphicData>
        </a:graphic>
      </p:graphicFrame>
      <p:sp>
        <p:nvSpPr>
          <p:cNvPr id="11" name="TextBox 10"/>
          <p:cNvSpPr txBox="1"/>
          <p:nvPr/>
        </p:nvSpPr>
        <p:spPr>
          <a:xfrm>
            <a:off x="6172200" y="4800600"/>
            <a:ext cx="5166360" cy="1234440"/>
          </a:xfrm>
          <a:prstGeom prst="rect">
            <a:avLst/>
          </a:prstGeom>
          <a:noFill/>
        </p:spPr>
        <p:txBody>
          <a:bodyPr wrap="square">
            <a:spAutoFit/>
          </a:bodyPr>
          <a:lstStyle/>
          <a:p>
            <a:r>
              <a:rPr sz="1200" b="0" i="1">
                <a:solidFill>
                  <a:srgbClr val="333333"/>
                </a:solidFill>
                <a:latin typeface="Calibri"/>
              </a:rPr>
              <a:t>ReduceLROnPlateau scheduler (reduces LR if validation loss stalls for 5 epochs) and Early Stopping (halts training after 10 epochs without improvement) were used to improve convergence and reduce overfitting.</a:t>
            </a:r>
            <a:endParaRPr sz="1200" b="0" i="1">
              <a:solidFill>
                <a:srgbClr val="333333"/>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Experimental Results &amp; Performance</a:t>
            </a:r>
            <a:endParaRPr lang="en-IN" dirty="0"/>
          </a:p>
        </p:txBody>
      </p:sp>
      <p:sp>
        <p:nvSpPr>
          <p:cNvPr id="3" name="Date Placeholder 2"/>
          <p:cNvSpPr>
            <a:spLocks noGrp="1"/>
          </p:cNvSpPr>
          <p:nvPr>
            <p:ph type="dt" sz="half" idx="10"/>
          </p:nvPr>
        </p:nvSpPr>
        <p:spPr/>
        <p:txBody>
          <a:bodyPr/>
          <a:lstStyle/>
          <a:p>
            <a:fld id="{53FB5B36-3D3F-4FDB-8D84-2AB8480CA44F}"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83080"/>
            <a:ext cx="5394960" cy="411480"/>
          </a:xfrm>
          <a:prstGeom prst="rect">
            <a:avLst/>
          </a:prstGeom>
          <a:noFill/>
        </p:spPr>
        <p:txBody>
          <a:bodyPr wrap="square">
            <a:spAutoFit/>
          </a:bodyPr>
          <a:lstStyle/>
          <a:p>
            <a:r>
              <a:rPr sz="1700" b="1" i="0">
                <a:solidFill>
                  <a:srgbClr val="BD582C"/>
                </a:solidFill>
                <a:latin typeface="Calibri"/>
              </a:rPr>
              <a:t>Classification Performance</a:t>
            </a:r>
            <a:endParaRPr sz="1700" b="1" i="0">
              <a:solidFill>
                <a:srgbClr val="BD582C"/>
              </a:solidFill>
              <a:latin typeface="Calibri"/>
            </a:endParaRPr>
          </a:p>
        </p:txBody>
      </p:sp>
      <p:graphicFrame>
        <p:nvGraphicFramePr>
          <p:cNvPr id="7" name="Chart 6"/>
          <p:cNvGraphicFramePr>
            <a:graphicFrameLocks noGrp="1"/>
          </p:cNvGraphicFramePr>
          <p:nvPr/>
        </p:nvGraphicFramePr>
        <p:xfrm>
          <a:off x="822960" y="2194560"/>
          <a:ext cx="5394960" cy="2286000"/>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Box 7"/>
          <p:cNvSpPr txBox="1"/>
          <p:nvPr/>
        </p:nvSpPr>
        <p:spPr>
          <a:xfrm>
            <a:off x="822960" y="4617720"/>
            <a:ext cx="5394960" cy="411480"/>
          </a:xfrm>
          <a:prstGeom prst="rect">
            <a:avLst/>
          </a:prstGeom>
          <a:noFill/>
        </p:spPr>
        <p:txBody>
          <a:bodyPr wrap="square">
            <a:spAutoFit/>
          </a:bodyPr>
          <a:lstStyle/>
          <a:p>
            <a:r>
              <a:rPr sz="1700" b="1" i="0">
                <a:solidFill>
                  <a:srgbClr val="BD582C"/>
                </a:solidFill>
                <a:latin typeface="Calibri"/>
              </a:rPr>
              <a:t>Segmentation Performance</a:t>
            </a:r>
            <a:endParaRPr sz="1700" b="1" i="0">
              <a:solidFill>
                <a:srgbClr val="BD582C"/>
              </a:solidFill>
              <a:latin typeface="Calibri"/>
            </a:endParaRPr>
          </a:p>
        </p:txBody>
      </p:sp>
      <p:sp>
        <p:nvSpPr>
          <p:cNvPr id="9" name="TextBox 8"/>
          <p:cNvSpPr txBox="1"/>
          <p:nvPr/>
        </p:nvSpPr>
        <p:spPr>
          <a:xfrm>
            <a:off x="822960" y="4983480"/>
            <a:ext cx="5394960" cy="1005840"/>
          </a:xfrm>
          <a:prstGeom prst="rect">
            <a:avLst/>
          </a:prstGeom>
          <a:noFill/>
        </p:spPr>
        <p:txBody>
          <a:bodyPr wrap="square">
            <a:spAutoFit/>
          </a:bodyPr>
          <a:lstStyle/>
          <a:p>
            <a:pPr>
              <a:lnSpc>
                <a:spcPct val="105000"/>
              </a:lnSpc>
              <a:spcAft>
                <a:spcPts val="800"/>
              </a:spcAft>
            </a:pPr>
            <a:r>
              <a:rPr sz="1300" b="0" i="0">
                <a:solidFill>
                  <a:srgbClr val="333333"/>
                </a:solidFill>
                <a:latin typeface="Calibri"/>
              </a:rPr>
              <a:t>• Dice Similarity Coefficient: 96.7%   •   IoU: 94.2%</a:t>
            </a:r>
            <a:endParaRPr sz="1300" b="0" i="0">
              <a:solidFill>
                <a:srgbClr val="333333"/>
              </a:solidFill>
              <a:latin typeface="Calibri"/>
            </a:endParaRPr>
          </a:p>
          <a:p>
            <a:pPr>
              <a:lnSpc>
                <a:spcPct val="105000"/>
              </a:lnSpc>
              <a:spcAft>
                <a:spcPts val="800"/>
              </a:spcAft>
            </a:pPr>
            <a:r>
              <a:rPr sz="1300" b="0" i="0">
                <a:solidFill>
                  <a:srgbClr val="333333"/>
                </a:solidFill>
                <a:latin typeface="Calibri"/>
              </a:rPr>
              <a:t>• Hausdorff Distance: 2.1 mm   •   FPR: 0.3%   •   FNR: 5.8%</a:t>
            </a:r>
            <a:endParaRPr sz="1300" b="0" i="0">
              <a:solidFill>
                <a:srgbClr val="333333"/>
              </a:solidFill>
              <a:latin typeface="Calibri"/>
            </a:endParaRPr>
          </a:p>
        </p:txBody>
      </p:sp>
      <p:pic>
        <p:nvPicPr>
          <p:cNvPr id="10" name="Picture 9" descr="fig4_confusion_matrix.png"/>
          <p:cNvPicPr>
            <a:picLocks noChangeAspect="1"/>
          </p:cNvPicPr>
          <p:nvPr/>
        </p:nvPicPr>
        <p:blipFill>
          <a:blip r:embed="rId2"/>
          <a:stretch>
            <a:fillRect/>
          </a:stretch>
        </p:blipFill>
        <p:spPr>
          <a:xfrm>
            <a:off x="6583680" y="1828800"/>
            <a:ext cx="3291840" cy="2878372"/>
          </a:xfrm>
          <a:prstGeom prst="rect">
            <a:avLst/>
          </a:prstGeom>
        </p:spPr>
      </p:pic>
      <p:sp>
        <p:nvSpPr>
          <p:cNvPr id="11" name="TextBox 10"/>
          <p:cNvSpPr txBox="1"/>
          <p:nvPr/>
        </p:nvSpPr>
        <p:spPr>
          <a:xfrm>
            <a:off x="6583680" y="4709160"/>
            <a:ext cx="3291840" cy="320040"/>
          </a:xfrm>
          <a:prstGeom prst="rect">
            <a:avLst/>
          </a:prstGeom>
          <a:noFill/>
        </p:spPr>
        <p:txBody>
          <a:bodyPr wrap="square">
            <a:spAutoFit/>
          </a:bodyPr>
          <a:lstStyle/>
          <a:p>
            <a:pPr algn="ctr"/>
            <a:r>
              <a:rPr sz="900" b="0" i="1">
                <a:solidFill>
                  <a:srgbClr val="666666"/>
                </a:solidFill>
                <a:latin typeface="Calibri"/>
              </a:rPr>
              <a:t>Fig. Confusion matrix (ResNet50 classifier)</a:t>
            </a:r>
            <a:endParaRPr sz="900" b="0" i="1">
              <a:solidFill>
                <a:srgbClr val="666666"/>
              </a:solidFill>
              <a:latin typeface="Calibri"/>
            </a:endParaRPr>
          </a:p>
        </p:txBody>
      </p:sp>
      <p:sp>
        <p:nvSpPr>
          <p:cNvPr id="12" name="TextBox 11"/>
          <p:cNvSpPr txBox="1"/>
          <p:nvPr/>
        </p:nvSpPr>
        <p:spPr>
          <a:xfrm>
            <a:off x="10058400" y="1828800"/>
            <a:ext cx="1234440" cy="4206240"/>
          </a:xfrm>
          <a:prstGeom prst="rect">
            <a:avLst/>
          </a:prstGeom>
          <a:noFill/>
        </p:spPr>
        <p:txBody>
          <a:bodyPr wrap="square">
            <a:spAutoFit/>
          </a:bodyPr>
          <a:lstStyle/>
          <a:p>
            <a:r>
              <a:rPr sz="1100" b="1" i="1">
                <a:solidFill>
                  <a:srgbClr val="637052"/>
                </a:solidFill>
                <a:latin typeface="Calibri"/>
              </a:rPr>
              <a:t>5 repeated runs; low std. dev. confirms consistency &amp; reproducibility</a:t>
            </a:r>
            <a:endParaRPr sz="1100" b="1" i="1">
              <a:solidFill>
                <a:srgbClr val="637052"/>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Experimental Results &amp; Performance</a:t>
            </a:r>
            <a:endParaRPr lang="en-IN" dirty="0"/>
          </a:p>
        </p:txBody>
      </p:sp>
      <p:sp>
        <p:nvSpPr>
          <p:cNvPr id="3" name="Date Placeholder 2"/>
          <p:cNvSpPr>
            <a:spLocks noGrp="1"/>
          </p:cNvSpPr>
          <p:nvPr>
            <p:ph type="dt" sz="half" idx="10"/>
          </p:nvPr>
        </p:nvSpPr>
        <p:spPr/>
        <p:txBody>
          <a:bodyPr/>
          <a:lstStyle/>
          <a:p>
            <a:fld id="{53FB5B36-3D3F-4FDB-8D84-2AB8480CA44F}"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11" name="TextBox 10"/>
          <p:cNvSpPr txBox="1"/>
          <p:nvPr/>
        </p:nvSpPr>
        <p:spPr>
          <a:xfrm>
            <a:off x="4220845" y="5838190"/>
            <a:ext cx="3291840" cy="229870"/>
          </a:xfrm>
          <a:prstGeom prst="rect">
            <a:avLst/>
          </a:prstGeom>
          <a:noFill/>
        </p:spPr>
        <p:txBody>
          <a:bodyPr wrap="square">
            <a:spAutoFit/>
          </a:bodyPr>
          <a:lstStyle/>
          <a:p>
            <a:pPr algn="ctr"/>
            <a:r>
              <a:rPr sz="900" b="0" i="1">
                <a:solidFill>
                  <a:srgbClr val="666666"/>
                </a:solidFill>
                <a:latin typeface="Calibri"/>
              </a:rPr>
              <a:t>Fig. </a:t>
            </a:r>
            <a:r>
              <a:rPr lang="en-US" sz="900" b="0" i="1">
                <a:solidFill>
                  <a:srgbClr val="666666"/>
                </a:solidFill>
                <a:latin typeface="Calibri"/>
              </a:rPr>
              <a:t>P</a:t>
            </a:r>
            <a:r>
              <a:rPr lang="en-US" altLang="en-US" sz="900" b="0" i="1">
                <a:solidFill>
                  <a:srgbClr val="666666"/>
                </a:solidFill>
                <a:latin typeface="Calibri"/>
              </a:rPr>
              <a:t>redicted results with the Original test data</a:t>
            </a:r>
            <a:endParaRPr lang="en-US" altLang="en-US" sz="900" b="0" i="1">
              <a:solidFill>
                <a:srgbClr val="666666"/>
              </a:solidFill>
              <a:latin typeface="Calibri"/>
            </a:endParaRPr>
          </a:p>
        </p:txBody>
      </p:sp>
      <p:pic>
        <p:nvPicPr>
          <p:cNvPr id="13" name="Picture 12"/>
          <p:cNvPicPr>
            <a:picLocks noChangeAspect="1"/>
          </p:cNvPicPr>
          <p:nvPr/>
        </p:nvPicPr>
        <p:blipFill>
          <a:blip r:embed="rId1"/>
          <a:srcRect b="80093"/>
          <a:stretch>
            <a:fillRect/>
          </a:stretch>
        </p:blipFill>
        <p:spPr>
          <a:xfrm>
            <a:off x="739140" y="1874520"/>
            <a:ext cx="10735945" cy="37306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with Existing Methods</a:t>
            </a:r>
            <a:endParaRPr lang="en-IN" dirty="0"/>
          </a:p>
        </p:txBody>
      </p:sp>
      <p:sp>
        <p:nvSpPr>
          <p:cNvPr id="3" name="Date Placeholder 2"/>
          <p:cNvSpPr>
            <a:spLocks noGrp="1"/>
          </p:cNvSpPr>
          <p:nvPr>
            <p:ph type="dt" sz="half" idx="10"/>
          </p:nvPr>
        </p:nvSpPr>
        <p:spPr/>
        <p:txBody>
          <a:bodyPr/>
          <a:lstStyle/>
          <a:p>
            <a:fld id="{53FB5B36-3D3F-4FDB-8D84-2AB8480CA44F}"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graphicFrame>
        <p:nvGraphicFramePr>
          <p:cNvPr id="6" name="Table 5"/>
          <p:cNvGraphicFramePr>
            <a:graphicFrameLocks noGrp="1"/>
          </p:cNvGraphicFramePr>
          <p:nvPr/>
        </p:nvGraphicFramePr>
        <p:xfrm>
          <a:off x="2806065" y="1872615"/>
          <a:ext cx="6583680" cy="2377440"/>
        </p:xfrm>
        <a:graphic>
          <a:graphicData uri="http://schemas.openxmlformats.org/drawingml/2006/table">
            <a:tbl>
              <a:tblPr firstRow="1" bandRow="1">
                <a:tableStyleId>{5C22544A-7EE6-4342-B048-85BDC9FD1C3A}</a:tableStyleId>
              </a:tblPr>
              <a:tblGrid>
                <a:gridCol w="4023360"/>
                <a:gridCol w="1280160"/>
                <a:gridCol w="1280160"/>
              </a:tblGrid>
              <a:tr h="475488">
                <a:tc>
                  <a:txBody>
                    <a:bodyPr/>
                    <a:lstStyle/>
                    <a:p>
                      <a:pPr algn="l"/>
                      <a:r>
                        <a:rPr sz="1400" b="1" i="0">
                          <a:solidFill>
                            <a:srgbClr val="FFFFFF"/>
                          </a:solidFill>
                          <a:latin typeface="Calibri"/>
                        </a:rPr>
                        <a:t>Model</a:t>
                      </a:r>
                      <a:endParaRPr sz="1400" b="1" i="0">
                        <a:solidFill>
                          <a:srgbClr val="FFFFFF"/>
                        </a:solidFill>
                        <a:latin typeface="Calibri"/>
                      </a:endParaRPr>
                    </a:p>
                  </a:txBody>
                  <a:tcPr marL="76200" marR="76200" marT="38100" marB="38100" anchor="ctr">
                    <a:solidFill>
                      <a:srgbClr val="BD582C"/>
                    </a:solidFill>
                  </a:tcPr>
                </a:tc>
                <a:tc>
                  <a:txBody>
                    <a:bodyPr/>
                    <a:lstStyle/>
                    <a:p>
                      <a:pPr algn="ctr"/>
                      <a:r>
                        <a:rPr sz="1400" b="1" i="0">
                          <a:solidFill>
                            <a:srgbClr val="FFFFFF"/>
                          </a:solidFill>
                          <a:latin typeface="Calibri"/>
                        </a:rPr>
                        <a:t>Accuracy</a:t>
                      </a:r>
                      <a:endParaRPr sz="1400" b="1" i="0">
                        <a:solidFill>
                          <a:srgbClr val="FFFFFF"/>
                        </a:solidFill>
                        <a:latin typeface="Calibri"/>
                      </a:endParaRPr>
                    </a:p>
                  </a:txBody>
                  <a:tcPr marL="76200" marR="76200" marT="38100" marB="38100" anchor="ctr">
                    <a:solidFill>
                      <a:srgbClr val="BD582C"/>
                    </a:solidFill>
                  </a:tcPr>
                </a:tc>
                <a:tc>
                  <a:txBody>
                    <a:bodyPr/>
                    <a:lstStyle/>
                    <a:p>
                      <a:pPr algn="ctr"/>
                      <a:r>
                        <a:rPr sz="1400" b="1" i="0">
                          <a:solidFill>
                            <a:srgbClr val="FFFFFF"/>
                          </a:solidFill>
                          <a:latin typeface="Calibri"/>
                        </a:rPr>
                        <a:t>Dice Score</a:t>
                      </a:r>
                      <a:endParaRPr sz="1400" b="1" i="0">
                        <a:solidFill>
                          <a:srgbClr val="FFFFFF"/>
                        </a:solidFill>
                        <a:latin typeface="Calibri"/>
                      </a:endParaRPr>
                    </a:p>
                  </a:txBody>
                  <a:tcPr marL="76200" marR="76200" marT="38100" marB="38100" anchor="ctr">
                    <a:solidFill>
                      <a:srgbClr val="BD582C"/>
                    </a:solidFill>
                  </a:tcPr>
                </a:tc>
              </a:tr>
              <a:tr h="475488">
                <a:tc>
                  <a:txBody>
                    <a:bodyPr/>
                    <a:lstStyle/>
                    <a:p>
                      <a:pPr algn="l"/>
                      <a:r>
                        <a:rPr sz="1400" b="1" i="0">
                          <a:solidFill>
                            <a:srgbClr val="333333"/>
                          </a:solidFill>
                          <a:latin typeface="Calibri"/>
                        </a:rPr>
                        <a:t>CNN (baseline)</a:t>
                      </a:r>
                      <a:endParaRPr sz="1400" b="1" i="0">
                        <a:solidFill>
                          <a:srgbClr val="333333"/>
                        </a:solidFill>
                        <a:latin typeface="Calibri"/>
                      </a:endParaRPr>
                    </a:p>
                  </a:txBody>
                  <a:tcPr marL="76200" marR="76200" marT="38100" marB="38100" anchor="ctr">
                    <a:solidFill>
                      <a:srgbClr val="FFFFFF"/>
                    </a:solidFill>
                  </a:tcPr>
                </a:tc>
                <a:tc>
                  <a:txBody>
                    <a:bodyPr/>
                    <a:lstStyle/>
                    <a:p>
                      <a:pPr algn="ctr"/>
                      <a:r>
                        <a:rPr sz="1400" b="0" i="0">
                          <a:solidFill>
                            <a:srgbClr val="333333"/>
                          </a:solidFill>
                          <a:latin typeface="Calibri"/>
                        </a:rPr>
                        <a:t>93.2%</a:t>
                      </a:r>
                      <a:endParaRPr sz="1400" b="0" i="0">
                        <a:solidFill>
                          <a:srgbClr val="333333"/>
                        </a:solidFill>
                        <a:latin typeface="Calibri"/>
                      </a:endParaRPr>
                    </a:p>
                  </a:txBody>
                  <a:tcPr marL="76200" marR="76200" marT="38100" marB="38100" anchor="ctr">
                    <a:solidFill>
                      <a:srgbClr val="FFFFFF"/>
                    </a:solidFill>
                  </a:tcPr>
                </a:tc>
                <a:tc>
                  <a:txBody>
                    <a:bodyPr/>
                    <a:lstStyle/>
                    <a:p>
                      <a:pPr algn="ctr"/>
                      <a:r>
                        <a:rPr sz="1400" b="0" i="0">
                          <a:solidFill>
                            <a:srgbClr val="333333"/>
                          </a:solidFill>
                          <a:latin typeface="Calibri"/>
                        </a:rPr>
                        <a:t>—</a:t>
                      </a:r>
                      <a:endParaRPr sz="1400" b="0" i="0">
                        <a:solidFill>
                          <a:srgbClr val="333333"/>
                        </a:solidFill>
                        <a:latin typeface="Calibri"/>
                      </a:endParaRPr>
                    </a:p>
                  </a:txBody>
                  <a:tcPr marL="76200" marR="76200" marT="38100" marB="38100" anchor="ctr">
                    <a:solidFill>
                      <a:srgbClr val="FFFFFF"/>
                    </a:solidFill>
                  </a:tcPr>
                </a:tc>
              </a:tr>
              <a:tr h="475488">
                <a:tc>
                  <a:txBody>
                    <a:bodyPr/>
                    <a:lstStyle/>
                    <a:p>
                      <a:pPr algn="l"/>
                      <a:r>
                        <a:rPr sz="1400" b="1" i="0">
                          <a:solidFill>
                            <a:srgbClr val="333333"/>
                          </a:solidFill>
                          <a:latin typeface="Calibri"/>
                        </a:rPr>
                        <a:t>VGG16</a:t>
                      </a:r>
                      <a:endParaRPr sz="1400" b="1" i="0">
                        <a:solidFill>
                          <a:srgbClr val="333333"/>
                        </a:solidFill>
                        <a:latin typeface="Calibri"/>
                      </a:endParaRPr>
                    </a:p>
                  </a:txBody>
                  <a:tcPr marL="76200" marR="76200" marT="38100" marB="38100" anchor="ctr">
                    <a:solidFill>
                      <a:srgbClr val="F7F0EA"/>
                    </a:solidFill>
                  </a:tcPr>
                </a:tc>
                <a:tc>
                  <a:txBody>
                    <a:bodyPr/>
                    <a:lstStyle/>
                    <a:p>
                      <a:pPr algn="ctr"/>
                      <a:r>
                        <a:rPr sz="1400" b="0" i="0">
                          <a:solidFill>
                            <a:srgbClr val="333333"/>
                          </a:solidFill>
                          <a:latin typeface="Calibri"/>
                        </a:rPr>
                        <a:t>94.8%</a:t>
                      </a:r>
                      <a:endParaRPr sz="1400" b="0" i="0">
                        <a:solidFill>
                          <a:srgbClr val="333333"/>
                        </a:solidFill>
                        <a:latin typeface="Calibri"/>
                      </a:endParaRPr>
                    </a:p>
                  </a:txBody>
                  <a:tcPr marL="76200" marR="76200" marT="38100" marB="38100" anchor="ctr">
                    <a:solidFill>
                      <a:srgbClr val="F7F0EA"/>
                    </a:solidFill>
                  </a:tcPr>
                </a:tc>
                <a:tc>
                  <a:txBody>
                    <a:bodyPr/>
                    <a:lstStyle/>
                    <a:p>
                      <a:pPr algn="ctr"/>
                      <a:r>
                        <a:rPr sz="1400" b="0" i="0">
                          <a:solidFill>
                            <a:srgbClr val="333333"/>
                          </a:solidFill>
                          <a:latin typeface="Calibri"/>
                        </a:rPr>
                        <a:t>—</a:t>
                      </a:r>
                      <a:endParaRPr sz="1400" b="0" i="0">
                        <a:solidFill>
                          <a:srgbClr val="333333"/>
                        </a:solidFill>
                        <a:latin typeface="Calibri"/>
                      </a:endParaRPr>
                    </a:p>
                  </a:txBody>
                  <a:tcPr marL="76200" marR="76200" marT="38100" marB="38100" anchor="ctr">
                    <a:solidFill>
                      <a:srgbClr val="F7F0EA"/>
                    </a:solidFill>
                  </a:tcPr>
                </a:tc>
              </a:tr>
              <a:tr h="475488">
                <a:tc>
                  <a:txBody>
                    <a:bodyPr/>
                    <a:lstStyle/>
                    <a:p>
                      <a:pPr algn="l"/>
                      <a:r>
                        <a:rPr sz="1400" b="1" i="0">
                          <a:solidFill>
                            <a:srgbClr val="333333"/>
                          </a:solidFill>
                          <a:latin typeface="Calibri"/>
                        </a:rPr>
                        <a:t>U-Net</a:t>
                      </a:r>
                      <a:endParaRPr sz="1400" b="1" i="0">
                        <a:solidFill>
                          <a:srgbClr val="333333"/>
                        </a:solidFill>
                        <a:latin typeface="Calibri"/>
                      </a:endParaRPr>
                    </a:p>
                  </a:txBody>
                  <a:tcPr marL="76200" marR="76200" marT="38100" marB="38100" anchor="ctr">
                    <a:solidFill>
                      <a:srgbClr val="FFFFFF"/>
                    </a:solidFill>
                  </a:tcPr>
                </a:tc>
                <a:tc>
                  <a:txBody>
                    <a:bodyPr/>
                    <a:lstStyle/>
                    <a:p>
                      <a:pPr algn="ctr"/>
                      <a:r>
                        <a:rPr sz="1400" b="0" i="0">
                          <a:solidFill>
                            <a:srgbClr val="333333"/>
                          </a:solidFill>
                          <a:latin typeface="Calibri"/>
                        </a:rPr>
                        <a:t>—</a:t>
                      </a:r>
                      <a:endParaRPr sz="1400" b="0" i="0">
                        <a:solidFill>
                          <a:srgbClr val="333333"/>
                        </a:solidFill>
                        <a:latin typeface="Calibri"/>
                      </a:endParaRPr>
                    </a:p>
                  </a:txBody>
                  <a:tcPr marL="76200" marR="76200" marT="38100" marB="38100" anchor="ctr">
                    <a:solidFill>
                      <a:srgbClr val="FFFFFF"/>
                    </a:solidFill>
                  </a:tcPr>
                </a:tc>
                <a:tc>
                  <a:txBody>
                    <a:bodyPr/>
                    <a:lstStyle/>
                    <a:p>
                      <a:pPr algn="ctr"/>
                      <a:r>
                        <a:rPr sz="1400" b="0" i="0">
                          <a:solidFill>
                            <a:srgbClr val="333333"/>
                          </a:solidFill>
                          <a:latin typeface="Calibri"/>
                        </a:rPr>
                        <a:t>92.5%</a:t>
                      </a:r>
                      <a:endParaRPr sz="1400" b="0" i="0">
                        <a:solidFill>
                          <a:srgbClr val="333333"/>
                        </a:solidFill>
                        <a:latin typeface="Calibri"/>
                      </a:endParaRPr>
                    </a:p>
                  </a:txBody>
                  <a:tcPr marL="76200" marR="76200" marT="38100" marB="38100" anchor="ctr">
                    <a:solidFill>
                      <a:srgbClr val="FFFFFF"/>
                    </a:solidFill>
                  </a:tcPr>
                </a:tc>
              </a:tr>
              <a:tr h="475488">
                <a:tc>
                  <a:txBody>
                    <a:bodyPr/>
                    <a:lstStyle/>
                    <a:p>
                      <a:pPr algn="l"/>
                      <a:r>
                        <a:rPr sz="1400" b="1" i="0">
                          <a:solidFill>
                            <a:srgbClr val="333333"/>
                          </a:solidFill>
                          <a:latin typeface="Calibri"/>
                        </a:rPr>
                        <a:t>Proposed ResNet50 + ResUNet</a:t>
                      </a:r>
                      <a:endParaRPr sz="1400" b="1" i="0">
                        <a:solidFill>
                          <a:srgbClr val="333333"/>
                        </a:solidFill>
                        <a:latin typeface="Calibri"/>
                      </a:endParaRPr>
                    </a:p>
                  </a:txBody>
                  <a:tcPr marL="76200" marR="76200" marT="38100" marB="38100" anchor="ctr">
                    <a:solidFill>
                      <a:srgbClr val="F7F0EA"/>
                    </a:solidFill>
                  </a:tcPr>
                </a:tc>
                <a:tc>
                  <a:txBody>
                    <a:bodyPr/>
                    <a:lstStyle/>
                    <a:p>
                      <a:pPr algn="ctr"/>
                      <a:r>
                        <a:rPr sz="1400" b="0" i="0">
                          <a:solidFill>
                            <a:srgbClr val="333333"/>
                          </a:solidFill>
                          <a:latin typeface="Calibri"/>
                        </a:rPr>
                        <a:t>98.5%</a:t>
                      </a:r>
                      <a:endParaRPr sz="1400" b="0" i="0">
                        <a:solidFill>
                          <a:srgbClr val="333333"/>
                        </a:solidFill>
                        <a:latin typeface="Calibri"/>
                      </a:endParaRPr>
                    </a:p>
                  </a:txBody>
                  <a:tcPr marL="76200" marR="76200" marT="38100" marB="38100" anchor="ctr">
                    <a:solidFill>
                      <a:srgbClr val="F7F0EA"/>
                    </a:solidFill>
                  </a:tcPr>
                </a:tc>
                <a:tc>
                  <a:txBody>
                    <a:bodyPr/>
                    <a:lstStyle/>
                    <a:p>
                      <a:pPr algn="ctr"/>
                      <a:r>
                        <a:rPr sz="1400" b="0" i="0">
                          <a:solidFill>
                            <a:srgbClr val="333333"/>
                          </a:solidFill>
                          <a:latin typeface="Calibri"/>
                        </a:rPr>
                        <a:t>96.7%</a:t>
                      </a:r>
                      <a:endParaRPr sz="1400" b="0" i="0">
                        <a:solidFill>
                          <a:srgbClr val="333333"/>
                        </a:solidFill>
                        <a:latin typeface="Calibri"/>
                      </a:endParaRPr>
                    </a:p>
                  </a:txBody>
                  <a:tcPr marL="76200" marR="76200" marT="38100" marB="38100" anchor="ctr">
                    <a:solidFill>
                      <a:srgbClr val="F7F0EA"/>
                    </a:solidFill>
                  </a:tcPr>
                </a:tc>
              </a:tr>
            </a:tbl>
          </a:graphicData>
        </a:graphic>
      </p:graphicFrame>
      <p:sp>
        <p:nvSpPr>
          <p:cNvPr id="7" name="TextBox 6"/>
          <p:cNvSpPr txBox="1"/>
          <p:nvPr/>
        </p:nvSpPr>
        <p:spPr>
          <a:xfrm>
            <a:off x="822960" y="4526280"/>
            <a:ext cx="10515600" cy="1554480"/>
          </a:xfrm>
          <a:prstGeom prst="rect">
            <a:avLst/>
          </a:prstGeom>
          <a:noFill/>
        </p:spPr>
        <p:txBody>
          <a:bodyPr wrap="square">
            <a:spAutoFit/>
          </a:bodyPr>
          <a:lstStyle/>
          <a:p>
            <a:pPr>
              <a:lnSpc>
                <a:spcPct val="105000"/>
              </a:lnSpc>
              <a:spcAft>
                <a:spcPts val="1000"/>
              </a:spcAft>
            </a:pPr>
            <a:r>
              <a:rPr sz="1400" b="0" i="0">
                <a:solidFill>
                  <a:srgbClr val="333333"/>
                </a:solidFill>
                <a:latin typeface="Calibri"/>
              </a:rPr>
              <a:t>• Highest classification accuracy and strongest segmentation overlap among compared methods</a:t>
            </a:r>
            <a:endParaRPr sz="1400" b="0" i="0">
              <a:solidFill>
                <a:srgbClr val="333333"/>
              </a:solidFill>
              <a:latin typeface="Calibri"/>
            </a:endParaRPr>
          </a:p>
          <a:p>
            <a:pPr>
              <a:lnSpc>
                <a:spcPct val="105000"/>
              </a:lnSpc>
              <a:spcAft>
                <a:spcPts val="1000"/>
              </a:spcAft>
            </a:pPr>
            <a:r>
              <a:rPr sz="1400" b="0" i="0">
                <a:solidFill>
                  <a:srgbClr val="333333"/>
                </a:solidFill>
                <a:latin typeface="Calibri"/>
              </a:rPr>
              <a:t>• Combines detection + localization in a single workflow, unlike most prior methods which address only one task</a:t>
            </a:r>
            <a:endParaRPr sz="1400" b="0" i="0">
              <a:solidFill>
                <a:srgbClr val="333333"/>
              </a:solidFill>
              <a:latin typeface="Calibri"/>
            </a:endParaRPr>
          </a:p>
          <a:p>
            <a:pPr>
              <a:lnSpc>
                <a:spcPct val="105000"/>
              </a:lnSpc>
              <a:spcAft>
                <a:spcPts val="1000"/>
              </a:spcAft>
            </a:pPr>
            <a:r>
              <a:rPr sz="1400" b="0" i="0">
                <a:solidFill>
                  <a:srgbClr val="333333"/>
                </a:solidFill>
                <a:latin typeface="Calibri"/>
              </a:rPr>
              <a:t>• Backed by statistical validation across 5 repeated runs — not a single-run result</a:t>
            </a:r>
            <a:endParaRPr sz="1400" b="0" i="0">
              <a:solidFill>
                <a:srgbClr val="333333"/>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Significant Outcome of the Research</a:t>
            </a:r>
            <a:endParaRPr lang="en-IN" dirty="0"/>
          </a:p>
        </p:txBody>
      </p:sp>
      <p:sp>
        <p:nvSpPr>
          <p:cNvPr id="3" name="Date Placeholder 2"/>
          <p:cNvSpPr>
            <a:spLocks noGrp="1"/>
          </p:cNvSpPr>
          <p:nvPr>
            <p:ph type="dt" sz="half" idx="10"/>
          </p:nvPr>
        </p:nvSpPr>
        <p:spPr/>
        <p:txBody>
          <a:bodyPr/>
          <a:lstStyle/>
          <a:p>
            <a:fld id="{619D077C-FAA3-4748-861C-CD73EDA88CD1}" type="datetime1">
              <a:rPr lang="en-IN" smtClean="0"/>
            </a:fld>
            <a:endParaRPr lang="en-IN"/>
          </a:p>
        </p:txBody>
      </p:sp>
      <p:sp>
        <p:nvSpPr>
          <p:cNvPr id="4" name="Footer Placeholder 3"/>
          <p:cNvSpPr>
            <a:spLocks noGrp="1"/>
          </p:cNvSpPr>
          <p:nvPr>
            <p:ph type="ftr" sz="quarter" idx="11"/>
          </p:nvPr>
        </p:nvSpPr>
        <p:spPr/>
        <p:txBody>
          <a:bodyPr/>
          <a:lstStyle/>
          <a:p>
            <a:r>
              <a:rPr lang="en-US"/>
              <a:t>School of Electrical Engineering, MIT, Manipal</a:t>
            </a:r>
            <a:endParaRPr lang="en-IN"/>
          </a:p>
        </p:txBody>
      </p:sp>
      <p:sp>
        <p:nvSpPr>
          <p:cNvPr id="5" name="Slide Number Placeholder 4"/>
          <p:cNvSpPr>
            <a:spLocks noGrp="1"/>
          </p:cNvSpPr>
          <p:nvPr>
            <p:ph type="sldNum" sz="quarter" idx="12"/>
          </p:nvPr>
        </p:nvSpPr>
        <p:spPr/>
        <p:txBody>
          <a:bodyPr/>
          <a:lstStyle/>
          <a:p>
            <a:fld id="{9A621F9B-DC96-4211-830F-F4FD83FDAB92}" type="slidenum">
              <a:rPr lang="en-IN" smtClean="0"/>
            </a:fld>
            <a:endParaRPr lang="en-IN"/>
          </a:p>
        </p:txBody>
      </p:sp>
      <p:sp>
        <p:nvSpPr>
          <p:cNvPr id="6" name="TextBox 5"/>
          <p:cNvSpPr txBox="1"/>
          <p:nvPr/>
        </p:nvSpPr>
        <p:spPr>
          <a:xfrm>
            <a:off x="822960" y="1783080"/>
            <a:ext cx="5120640" cy="411480"/>
          </a:xfrm>
          <a:prstGeom prst="rect">
            <a:avLst/>
          </a:prstGeom>
          <a:noFill/>
        </p:spPr>
        <p:txBody>
          <a:bodyPr wrap="square">
            <a:spAutoFit/>
          </a:bodyPr>
          <a:lstStyle/>
          <a:p>
            <a:r>
              <a:rPr sz="1700" b="1" i="0">
                <a:solidFill>
                  <a:srgbClr val="BD582C"/>
                </a:solidFill>
                <a:latin typeface="Calibri"/>
              </a:rPr>
              <a:t>Clinical Applications &amp; Healthcare Impact</a:t>
            </a:r>
            <a:endParaRPr sz="1700" b="1" i="0">
              <a:solidFill>
                <a:srgbClr val="BD582C"/>
              </a:solidFill>
              <a:latin typeface="Calibri"/>
            </a:endParaRPr>
          </a:p>
        </p:txBody>
      </p:sp>
      <p:sp>
        <p:nvSpPr>
          <p:cNvPr id="7" name="TextBox 6"/>
          <p:cNvSpPr txBox="1"/>
          <p:nvPr/>
        </p:nvSpPr>
        <p:spPr>
          <a:xfrm>
            <a:off x="822960" y="2331720"/>
            <a:ext cx="5120640" cy="3566160"/>
          </a:xfrm>
          <a:prstGeom prst="rect">
            <a:avLst/>
          </a:prstGeom>
          <a:noFill/>
        </p:spPr>
        <p:txBody>
          <a:bodyPr wrap="square">
            <a:spAutoFit/>
          </a:bodyPr>
          <a:lstStyle/>
          <a:p>
            <a:pPr>
              <a:lnSpc>
                <a:spcPct val="105000"/>
              </a:lnSpc>
              <a:spcAft>
                <a:spcPts val="1200"/>
              </a:spcAft>
            </a:pPr>
            <a:r>
              <a:rPr sz="1400" b="0" i="0">
                <a:solidFill>
                  <a:srgbClr val="333333"/>
                </a:solidFill>
                <a:latin typeface="Calibri"/>
              </a:rPr>
              <a:t>• AI-assisted diagnosis &amp; computer-aided diagnosis (CAD)</a:t>
            </a:r>
            <a:endParaRPr sz="1400" b="0" i="0">
              <a:solidFill>
                <a:srgbClr val="333333"/>
              </a:solidFill>
              <a:latin typeface="Calibri"/>
            </a:endParaRPr>
          </a:p>
          <a:p>
            <a:pPr>
              <a:lnSpc>
                <a:spcPct val="105000"/>
              </a:lnSpc>
              <a:spcAft>
                <a:spcPts val="1200"/>
              </a:spcAft>
            </a:pPr>
            <a:r>
              <a:rPr sz="1400" b="0" i="0">
                <a:solidFill>
                  <a:srgbClr val="333333"/>
                </a:solidFill>
                <a:latin typeface="Calibri"/>
              </a:rPr>
              <a:t>• Tumor localization for treatment planning and follow-up monitoring</a:t>
            </a:r>
            <a:endParaRPr sz="1400" b="0" i="0">
              <a:solidFill>
                <a:srgbClr val="333333"/>
              </a:solidFill>
              <a:latin typeface="Calibri"/>
            </a:endParaRPr>
          </a:p>
          <a:p>
            <a:pPr>
              <a:lnSpc>
                <a:spcPct val="105000"/>
              </a:lnSpc>
              <a:spcAft>
                <a:spcPts val="1200"/>
              </a:spcAft>
            </a:pPr>
            <a:r>
              <a:rPr sz="1400" b="0" i="0">
                <a:solidFill>
                  <a:srgbClr val="333333"/>
                </a:solidFill>
                <a:latin typeface="Calibri"/>
              </a:rPr>
              <a:t>• Hospital radiology departments and emergency screening</a:t>
            </a:r>
            <a:endParaRPr sz="1400" b="0" i="0">
              <a:solidFill>
                <a:srgbClr val="333333"/>
              </a:solidFill>
              <a:latin typeface="Calibri"/>
            </a:endParaRPr>
          </a:p>
          <a:p>
            <a:pPr>
              <a:lnSpc>
                <a:spcPct val="105000"/>
              </a:lnSpc>
              <a:spcAft>
                <a:spcPts val="1200"/>
              </a:spcAft>
            </a:pPr>
            <a:r>
              <a:rPr sz="1400" b="0" i="0">
                <a:solidFill>
                  <a:srgbClr val="333333"/>
                </a:solidFill>
                <a:latin typeface="Calibri"/>
              </a:rPr>
              <a:t>• Telemedicine and rural / resource-constrained healthcare settings</a:t>
            </a:r>
            <a:endParaRPr sz="1400" b="0" i="0">
              <a:solidFill>
                <a:srgbClr val="333333"/>
              </a:solidFill>
              <a:latin typeface="Calibri"/>
            </a:endParaRPr>
          </a:p>
        </p:txBody>
      </p:sp>
      <p:sp>
        <p:nvSpPr>
          <p:cNvPr id="8" name="TextBox 7"/>
          <p:cNvSpPr txBox="1"/>
          <p:nvPr/>
        </p:nvSpPr>
        <p:spPr>
          <a:xfrm>
            <a:off x="6309360" y="1783080"/>
            <a:ext cx="5029200" cy="411480"/>
          </a:xfrm>
          <a:prstGeom prst="rect">
            <a:avLst/>
          </a:prstGeom>
          <a:noFill/>
        </p:spPr>
        <p:txBody>
          <a:bodyPr wrap="square">
            <a:spAutoFit/>
          </a:bodyPr>
          <a:lstStyle/>
          <a:p>
            <a:r>
              <a:rPr sz="1700" b="1" i="0">
                <a:solidFill>
                  <a:srgbClr val="BD582C"/>
                </a:solidFill>
                <a:latin typeface="Calibri"/>
              </a:rPr>
              <a:t>CISCON Theme Alignment</a:t>
            </a:r>
            <a:endParaRPr sz="1700" b="1" i="0">
              <a:solidFill>
                <a:srgbClr val="BD582C"/>
              </a:solidFill>
              <a:latin typeface="Calibri"/>
            </a:endParaRPr>
          </a:p>
        </p:txBody>
      </p:sp>
      <p:sp>
        <p:nvSpPr>
          <p:cNvPr id="9" name="TextBox 8"/>
          <p:cNvSpPr txBox="1"/>
          <p:nvPr/>
        </p:nvSpPr>
        <p:spPr>
          <a:xfrm>
            <a:off x="6309360" y="2331720"/>
            <a:ext cx="5029200" cy="3566160"/>
          </a:xfrm>
          <a:prstGeom prst="rect">
            <a:avLst/>
          </a:prstGeom>
          <a:noFill/>
        </p:spPr>
        <p:txBody>
          <a:bodyPr wrap="square">
            <a:spAutoFit/>
          </a:bodyPr>
          <a:lstStyle/>
          <a:p>
            <a:pPr>
              <a:lnSpc>
                <a:spcPct val="105000"/>
              </a:lnSpc>
              <a:spcAft>
                <a:spcPts val="800"/>
              </a:spcAft>
            </a:pPr>
            <a:r>
              <a:rPr sz="1300" b="1" i="0">
                <a:solidFill>
                  <a:srgbClr val="333333"/>
                </a:solidFill>
                <a:latin typeface="Calibri"/>
              </a:rPr>
              <a:t>• System Monitoring:</a:t>
            </a:r>
            <a:endParaRPr sz="1300" b="1" i="0">
              <a:solidFill>
                <a:srgbClr val="333333"/>
              </a:solidFill>
              <a:latin typeface="Calibri"/>
            </a:endParaRPr>
          </a:p>
          <a:p>
            <a:pPr lvl="1">
              <a:lnSpc>
                <a:spcPct val="105000"/>
              </a:lnSpc>
              <a:spcAft>
                <a:spcPts val="800"/>
              </a:spcAft>
            </a:pPr>
            <a:r>
              <a:rPr sz="1200" b="0" i="0">
                <a:solidFill>
                  <a:srgbClr val="333333"/>
                </a:solidFill>
                <a:latin typeface="Calibri"/>
              </a:rPr>
              <a:t>– Continuous, automated MRI analysis</a:t>
            </a:r>
            <a:endParaRPr sz="1200" b="0" i="0">
              <a:solidFill>
                <a:srgbClr val="333333"/>
              </a:solidFill>
              <a:latin typeface="Calibri"/>
            </a:endParaRPr>
          </a:p>
          <a:p>
            <a:pPr>
              <a:lnSpc>
                <a:spcPct val="105000"/>
              </a:lnSpc>
              <a:spcAft>
                <a:spcPts val="800"/>
              </a:spcAft>
            </a:pPr>
            <a:r>
              <a:rPr sz="1300" b="1" i="0">
                <a:solidFill>
                  <a:srgbClr val="333333"/>
                </a:solidFill>
                <a:latin typeface="Calibri"/>
              </a:rPr>
              <a:t>• Optimal Technology:</a:t>
            </a:r>
            <a:endParaRPr sz="1300" b="1" i="0">
              <a:solidFill>
                <a:srgbClr val="333333"/>
              </a:solidFill>
              <a:latin typeface="Calibri"/>
            </a:endParaRPr>
          </a:p>
          <a:p>
            <a:pPr lvl="1">
              <a:lnSpc>
                <a:spcPct val="105000"/>
              </a:lnSpc>
              <a:spcAft>
                <a:spcPts val="800"/>
              </a:spcAft>
            </a:pPr>
            <a:r>
              <a:rPr sz="1200" b="0" i="0">
                <a:solidFill>
                  <a:srgbClr val="333333"/>
                </a:solidFill>
                <a:latin typeface="Calibri"/>
              </a:rPr>
              <a:t>– Two-stage design runs segmentation only when needed, cutting unnecessary computation</a:t>
            </a:r>
            <a:endParaRPr sz="1200" b="0" i="0">
              <a:solidFill>
                <a:srgbClr val="333333"/>
              </a:solidFill>
              <a:latin typeface="Calibri"/>
            </a:endParaRPr>
          </a:p>
          <a:p>
            <a:pPr>
              <a:lnSpc>
                <a:spcPct val="105000"/>
              </a:lnSpc>
              <a:spcAft>
                <a:spcPts val="800"/>
              </a:spcAft>
            </a:pPr>
            <a:r>
              <a:rPr sz="1300" b="1" i="0">
                <a:solidFill>
                  <a:srgbClr val="333333"/>
                </a:solidFill>
                <a:latin typeface="Calibri"/>
              </a:rPr>
              <a:t>• Sustainable Technology:</a:t>
            </a:r>
            <a:endParaRPr sz="1300" b="1" i="0">
              <a:solidFill>
                <a:srgbClr val="333333"/>
              </a:solidFill>
              <a:latin typeface="Calibri"/>
            </a:endParaRPr>
          </a:p>
          <a:p>
            <a:pPr lvl="1">
              <a:lnSpc>
                <a:spcPct val="105000"/>
              </a:lnSpc>
              <a:spcAft>
                <a:spcPts val="800"/>
              </a:spcAft>
            </a:pPr>
            <a:r>
              <a:rPr sz="1200" b="0" i="0">
                <a:solidFill>
                  <a:srgbClr val="333333"/>
                </a:solidFill>
                <a:latin typeface="Calibri"/>
              </a:rPr>
              <a:t>– Reduces radiologist workload and supports scalable AI-assisted diagnosis</a:t>
            </a:r>
            <a:endParaRPr sz="1200" b="0" i="0">
              <a:solidFill>
                <a:srgbClr val="333333"/>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and Future Scope</a:t>
            </a:r>
            <a:endParaRPr lang="en-IN" dirty="0"/>
          </a:p>
        </p:txBody>
      </p:sp>
      <p:sp>
        <p:nvSpPr>
          <p:cNvPr id="3" name="Date Placeholder 2"/>
          <p:cNvSpPr>
            <a:spLocks noGrp="1"/>
          </p:cNvSpPr>
          <p:nvPr>
            <p:ph type="dt" sz="half" idx="10"/>
          </p:nvPr>
        </p:nvSpPr>
        <p:spPr/>
        <p:txBody>
          <a:bodyPr/>
          <a:lstStyle/>
          <a:p>
            <a:fld id="{FB6BC479-511E-46D1-930D-71E7613885A2}"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83080"/>
            <a:ext cx="5120640" cy="411480"/>
          </a:xfrm>
          <a:prstGeom prst="rect">
            <a:avLst/>
          </a:prstGeom>
          <a:noFill/>
        </p:spPr>
        <p:txBody>
          <a:bodyPr wrap="square">
            <a:spAutoFit/>
          </a:bodyPr>
          <a:lstStyle/>
          <a:p>
            <a:r>
              <a:rPr sz="1700" b="1" i="0">
                <a:solidFill>
                  <a:srgbClr val="BD582C"/>
                </a:solidFill>
                <a:latin typeface="Calibri"/>
              </a:rPr>
              <a:t>Limitations</a:t>
            </a:r>
            <a:endParaRPr sz="1700" b="1" i="0">
              <a:solidFill>
                <a:srgbClr val="BD582C"/>
              </a:solidFill>
              <a:latin typeface="Calibri"/>
            </a:endParaRPr>
          </a:p>
        </p:txBody>
      </p:sp>
      <p:sp>
        <p:nvSpPr>
          <p:cNvPr id="7" name="TextBox 6"/>
          <p:cNvSpPr txBox="1"/>
          <p:nvPr/>
        </p:nvSpPr>
        <p:spPr>
          <a:xfrm>
            <a:off x="822960" y="2194560"/>
            <a:ext cx="5120640" cy="1691640"/>
          </a:xfrm>
          <a:prstGeom prst="rect">
            <a:avLst/>
          </a:prstGeom>
          <a:noFill/>
        </p:spPr>
        <p:txBody>
          <a:bodyPr wrap="square">
            <a:spAutoFit/>
          </a:bodyPr>
          <a:lstStyle/>
          <a:p>
            <a:pPr>
              <a:lnSpc>
                <a:spcPct val="105000"/>
              </a:lnSpc>
              <a:spcAft>
                <a:spcPts val="700"/>
              </a:spcAft>
            </a:pPr>
            <a:r>
              <a:rPr sz="1300" b="0" i="0">
                <a:solidFill>
                  <a:srgbClr val="333333"/>
                </a:solidFill>
                <a:latin typeface="Calibri"/>
              </a:rPr>
              <a:t>• Trained and evaluated on public MRI datasets only</a:t>
            </a:r>
            <a:endParaRPr sz="1300" b="0" i="0">
              <a:solidFill>
                <a:srgbClr val="333333"/>
              </a:solidFill>
              <a:latin typeface="Calibri"/>
            </a:endParaRPr>
          </a:p>
          <a:p>
            <a:pPr>
              <a:lnSpc>
                <a:spcPct val="105000"/>
              </a:lnSpc>
              <a:spcAft>
                <a:spcPts val="700"/>
              </a:spcAft>
            </a:pPr>
            <a:r>
              <a:rPr sz="1300" b="0" i="0">
                <a:solidFill>
                  <a:srgbClr val="333333"/>
                </a:solidFill>
                <a:latin typeface="Calibri"/>
              </a:rPr>
              <a:t>• Single imaging modality (MRI)</a:t>
            </a:r>
            <a:endParaRPr sz="1300" b="0" i="0">
              <a:solidFill>
                <a:srgbClr val="333333"/>
              </a:solidFill>
              <a:latin typeface="Calibri"/>
            </a:endParaRPr>
          </a:p>
          <a:p>
            <a:pPr>
              <a:lnSpc>
                <a:spcPct val="105000"/>
              </a:lnSpc>
              <a:spcAft>
                <a:spcPts val="700"/>
              </a:spcAft>
            </a:pPr>
            <a:r>
              <a:rPr sz="1300" b="0" i="0">
                <a:solidFill>
                  <a:srgbClr val="333333"/>
                </a:solidFill>
                <a:latin typeface="Calibri"/>
              </a:rPr>
              <a:t>• Requires multi-center clinical validation before deployment</a:t>
            </a:r>
            <a:endParaRPr sz="1300" b="0" i="0">
              <a:solidFill>
                <a:srgbClr val="333333"/>
              </a:solidFill>
              <a:latin typeface="Calibri"/>
            </a:endParaRPr>
          </a:p>
          <a:p>
            <a:pPr>
              <a:lnSpc>
                <a:spcPct val="105000"/>
              </a:lnSpc>
              <a:spcAft>
                <a:spcPts val="700"/>
              </a:spcAft>
            </a:pPr>
            <a:r>
              <a:rPr sz="1300" b="0" i="0">
                <a:solidFill>
                  <a:srgbClr val="333333"/>
                </a:solidFill>
                <a:latin typeface="Calibri"/>
              </a:rPr>
              <a:t>• High computational requirements for training</a:t>
            </a:r>
            <a:endParaRPr sz="1300" b="0" i="0">
              <a:solidFill>
                <a:srgbClr val="333333"/>
              </a:solidFill>
              <a:latin typeface="Calibri"/>
            </a:endParaRPr>
          </a:p>
        </p:txBody>
      </p:sp>
      <p:sp>
        <p:nvSpPr>
          <p:cNvPr id="8" name="TextBox 7"/>
          <p:cNvSpPr txBox="1"/>
          <p:nvPr/>
        </p:nvSpPr>
        <p:spPr>
          <a:xfrm>
            <a:off x="822960" y="3931920"/>
            <a:ext cx="5120640" cy="411480"/>
          </a:xfrm>
          <a:prstGeom prst="rect">
            <a:avLst/>
          </a:prstGeom>
          <a:noFill/>
        </p:spPr>
        <p:txBody>
          <a:bodyPr wrap="square">
            <a:spAutoFit/>
          </a:bodyPr>
          <a:lstStyle/>
          <a:p>
            <a:r>
              <a:rPr sz="1700" b="1" i="0">
                <a:solidFill>
                  <a:srgbClr val="BD582C"/>
                </a:solidFill>
                <a:latin typeface="Calibri"/>
              </a:rPr>
              <a:t>Future Scope</a:t>
            </a:r>
            <a:endParaRPr sz="1700" b="1" i="0">
              <a:solidFill>
                <a:srgbClr val="BD582C"/>
              </a:solidFill>
              <a:latin typeface="Calibri"/>
            </a:endParaRPr>
          </a:p>
        </p:txBody>
      </p:sp>
      <p:sp>
        <p:nvSpPr>
          <p:cNvPr id="9" name="TextBox 8"/>
          <p:cNvSpPr txBox="1"/>
          <p:nvPr/>
        </p:nvSpPr>
        <p:spPr>
          <a:xfrm>
            <a:off x="822960" y="4297680"/>
            <a:ext cx="5120640" cy="1691640"/>
          </a:xfrm>
          <a:prstGeom prst="rect">
            <a:avLst/>
          </a:prstGeom>
          <a:noFill/>
        </p:spPr>
        <p:txBody>
          <a:bodyPr wrap="square">
            <a:spAutoFit/>
          </a:bodyPr>
          <a:lstStyle/>
          <a:p>
            <a:pPr>
              <a:lnSpc>
                <a:spcPct val="105000"/>
              </a:lnSpc>
              <a:spcAft>
                <a:spcPts val="700"/>
              </a:spcAft>
            </a:pPr>
            <a:r>
              <a:rPr sz="1300" b="0" i="0">
                <a:solidFill>
                  <a:srgbClr val="333333"/>
                </a:solidFill>
                <a:latin typeface="Calibri"/>
              </a:rPr>
              <a:t>• Multi-modal imaging (e.g., CT, PET) and Explainable AI (XAI)</a:t>
            </a:r>
            <a:endParaRPr sz="1300" b="0" i="0">
              <a:solidFill>
                <a:srgbClr val="333333"/>
              </a:solidFill>
              <a:latin typeface="Calibri"/>
            </a:endParaRPr>
          </a:p>
          <a:p>
            <a:pPr>
              <a:lnSpc>
                <a:spcPct val="105000"/>
              </a:lnSpc>
              <a:spcAft>
                <a:spcPts val="700"/>
              </a:spcAft>
            </a:pPr>
            <a:r>
              <a:rPr sz="1300" b="0" i="0">
                <a:solidFill>
                  <a:srgbClr val="333333"/>
                </a:solidFill>
                <a:latin typeface="Calibri"/>
              </a:rPr>
              <a:t>• Vision Transformer architectures; Federated Learning across hospitals</a:t>
            </a:r>
            <a:endParaRPr sz="1300" b="0" i="0">
              <a:solidFill>
                <a:srgbClr val="333333"/>
              </a:solidFill>
              <a:latin typeface="Calibri"/>
            </a:endParaRPr>
          </a:p>
          <a:p>
            <a:pPr>
              <a:lnSpc>
                <a:spcPct val="105000"/>
              </a:lnSpc>
              <a:spcAft>
                <a:spcPts val="700"/>
              </a:spcAft>
            </a:pPr>
            <a:r>
              <a:rPr sz="1300" b="0" i="0">
                <a:solidFill>
                  <a:srgbClr val="333333"/>
                </a:solidFill>
                <a:latin typeface="Calibri"/>
              </a:rPr>
              <a:t>• Cloud / hospital-PACS integration for real-world clinical deployment</a:t>
            </a:r>
            <a:endParaRPr sz="1300" b="0" i="0">
              <a:solidFill>
                <a:srgbClr val="333333"/>
              </a:solidFill>
              <a:latin typeface="Calibri"/>
            </a:endParaRPr>
          </a:p>
        </p:txBody>
      </p:sp>
      <p:sp>
        <p:nvSpPr>
          <p:cNvPr id="10" name="TextBox 9"/>
          <p:cNvSpPr txBox="1"/>
          <p:nvPr/>
        </p:nvSpPr>
        <p:spPr>
          <a:xfrm>
            <a:off x="6309360" y="1783080"/>
            <a:ext cx="5029200" cy="411480"/>
          </a:xfrm>
          <a:prstGeom prst="rect">
            <a:avLst/>
          </a:prstGeom>
          <a:noFill/>
        </p:spPr>
        <p:txBody>
          <a:bodyPr wrap="square">
            <a:spAutoFit/>
          </a:bodyPr>
          <a:lstStyle/>
          <a:p>
            <a:r>
              <a:rPr sz="1700" b="1" i="0">
                <a:solidFill>
                  <a:srgbClr val="BD582C"/>
                </a:solidFill>
                <a:latin typeface="Calibri"/>
              </a:rPr>
              <a:t>Conclusion</a:t>
            </a:r>
            <a:endParaRPr sz="1700" b="1" i="0">
              <a:solidFill>
                <a:srgbClr val="BD582C"/>
              </a:solidFill>
              <a:latin typeface="Calibri"/>
            </a:endParaRPr>
          </a:p>
        </p:txBody>
      </p:sp>
      <p:sp>
        <p:nvSpPr>
          <p:cNvPr id="11" name="TextBox 10"/>
          <p:cNvSpPr txBox="1"/>
          <p:nvPr/>
        </p:nvSpPr>
        <p:spPr>
          <a:xfrm>
            <a:off x="6309360" y="2194560"/>
            <a:ext cx="5029200" cy="2377440"/>
          </a:xfrm>
          <a:prstGeom prst="rect">
            <a:avLst/>
          </a:prstGeom>
          <a:noFill/>
        </p:spPr>
        <p:txBody>
          <a:bodyPr wrap="square">
            <a:spAutoFit/>
          </a:bodyPr>
          <a:lstStyle/>
          <a:p>
            <a:pPr>
              <a:lnSpc>
                <a:spcPct val="105000"/>
              </a:lnSpc>
              <a:spcAft>
                <a:spcPts val="900"/>
              </a:spcAft>
            </a:pPr>
            <a:r>
              <a:rPr sz="1300" b="0" i="0">
                <a:solidFill>
                  <a:srgbClr val="333333"/>
                </a:solidFill>
                <a:latin typeface="Calibri"/>
              </a:rPr>
              <a:t>• Two-stage ResNet50–ResUNet framework for integrated tumor detection and localization</a:t>
            </a:r>
            <a:endParaRPr sz="1300" b="0" i="0">
              <a:solidFill>
                <a:srgbClr val="333333"/>
              </a:solidFill>
              <a:latin typeface="Calibri"/>
            </a:endParaRPr>
          </a:p>
          <a:p>
            <a:pPr>
              <a:lnSpc>
                <a:spcPct val="105000"/>
              </a:lnSpc>
              <a:spcAft>
                <a:spcPts val="900"/>
              </a:spcAft>
            </a:pPr>
            <a:r>
              <a:rPr sz="1300" b="0" i="0">
                <a:solidFill>
                  <a:srgbClr val="333333"/>
                </a:solidFill>
                <a:latin typeface="Calibri"/>
              </a:rPr>
              <a:t>• High classification accuracy (98.5%) and segmentation performance (96.7% Dice), confirmed via statistical validation</a:t>
            </a:r>
            <a:endParaRPr sz="1300" b="0" i="0">
              <a:solidFill>
                <a:srgbClr val="333333"/>
              </a:solidFill>
              <a:latin typeface="Calibri"/>
            </a:endParaRPr>
          </a:p>
          <a:p>
            <a:pPr>
              <a:lnSpc>
                <a:spcPct val="105000"/>
              </a:lnSpc>
              <a:spcAft>
                <a:spcPts val="900"/>
              </a:spcAft>
            </a:pPr>
            <a:r>
              <a:rPr sz="1300" b="0" i="0">
                <a:solidFill>
                  <a:srgbClr val="333333"/>
                </a:solidFill>
                <a:latin typeface="Calibri"/>
              </a:rPr>
              <a:t>• Supports radiologists with faster, more consistent decision support</a:t>
            </a:r>
            <a:endParaRPr sz="1300" b="0" i="0">
              <a:solidFill>
                <a:srgbClr val="333333"/>
              </a:solidFill>
              <a:latin typeface="Calibri"/>
            </a:endParaRPr>
          </a:p>
        </p:txBody>
      </p:sp>
      <p:sp>
        <p:nvSpPr>
          <p:cNvPr id="12" name="Rounded Rectangle 11"/>
          <p:cNvSpPr/>
          <p:nvPr/>
        </p:nvSpPr>
        <p:spPr>
          <a:xfrm>
            <a:off x="6309360" y="4207510"/>
            <a:ext cx="5029200" cy="1234440"/>
          </a:xfrm>
          <a:prstGeom prst="roundRect">
            <a:avLst/>
          </a:prstGeom>
          <a:solidFill>
            <a:srgbClr val="F7EFE7"/>
          </a:solidFill>
          <a:ln>
            <a:noFill/>
          </a:ln>
          <a:effectLst/>
        </p:spPr>
        <p:txBody>
          <a:bodyPr wrap="square" lIns="152400" tIns="101600" rIns="152400" bIns="101600" rtlCol="0" anchor="ctr"/>
          <a:lstStyle/>
          <a:p>
            <a:pPr algn="ctr"/>
            <a:r>
              <a:rPr sz="1300" b="1" i="1">
                <a:solidFill>
                  <a:srgbClr val="BD582C"/>
                </a:solidFill>
                <a:latin typeface="Calibri"/>
              </a:rPr>
              <a:t>“AI is not replacing doctors — it is empowering doctors with faster and more consistent decision support.”</a:t>
            </a:r>
            <a:endParaRPr sz="1300" b="1" i="1">
              <a:solidFill>
                <a:srgbClr val="BD582C"/>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IN" dirty="0"/>
          </a:p>
        </p:txBody>
      </p:sp>
      <p:sp>
        <p:nvSpPr>
          <p:cNvPr id="3" name="Date Placeholder 2"/>
          <p:cNvSpPr>
            <a:spLocks noGrp="1"/>
          </p:cNvSpPr>
          <p:nvPr>
            <p:ph type="dt" sz="half" idx="10"/>
          </p:nvPr>
        </p:nvSpPr>
        <p:spPr/>
        <p:txBody>
          <a:bodyPr/>
          <a:lstStyle/>
          <a:p>
            <a:fld id="{D97FE9E2-8A51-4266-9193-9F1941690BB6}" type="datetime1">
              <a:rPr lang="en-IN" smtClean="0"/>
            </a:fld>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5" name="Footer Placeholder 4"/>
          <p:cNvSpPr>
            <a:spLocks noGrp="1"/>
          </p:cNvSpPr>
          <p:nvPr>
            <p:ph type="ftr" sz="quarter" idx="11"/>
          </p:nvPr>
        </p:nvSpPr>
        <p:spPr/>
        <p:txBody>
          <a:bodyPr/>
          <a:lstStyle/>
          <a:p>
            <a:r>
              <a:rPr lang="en-US"/>
              <a:t>School of Electrical Engineering, MIT, Manipal</a:t>
            </a:r>
            <a:endParaRPr lang="en-IN"/>
          </a:p>
        </p:txBody>
      </p:sp>
      <p:sp>
        <p:nvSpPr>
          <p:cNvPr id="6" name="TextBox 5"/>
          <p:cNvSpPr txBox="1"/>
          <p:nvPr/>
        </p:nvSpPr>
        <p:spPr>
          <a:xfrm>
            <a:off x="822960" y="1783080"/>
            <a:ext cx="10515600" cy="4251960"/>
          </a:xfrm>
          <a:prstGeom prst="rect">
            <a:avLst/>
          </a:prstGeom>
          <a:noFill/>
        </p:spPr>
        <p:txBody>
          <a:bodyPr wrap="square">
            <a:spAutoFit/>
          </a:bodyPr>
          <a:lstStyle/>
          <a:p>
            <a:pPr>
              <a:lnSpc>
                <a:spcPct val="105000"/>
              </a:lnSpc>
              <a:spcAft>
                <a:spcPts val="1400"/>
              </a:spcAft>
            </a:pPr>
            <a:r>
              <a:rPr sz="1300" b="0" i="0">
                <a:solidFill>
                  <a:srgbClr val="333333"/>
                </a:solidFill>
                <a:latin typeface="Calibri"/>
              </a:rPr>
              <a:t>• [1] G. Litjens et al., “A survey on deep learning in medical image analysis,” Medical Image Analysis, vol. 42, pp. 60–88, 2017.</a:t>
            </a:r>
            <a:endParaRPr sz="1300" b="0" i="0">
              <a:solidFill>
                <a:srgbClr val="333333"/>
              </a:solidFill>
              <a:latin typeface="Calibri"/>
            </a:endParaRPr>
          </a:p>
          <a:p>
            <a:pPr>
              <a:lnSpc>
                <a:spcPct val="105000"/>
              </a:lnSpc>
              <a:spcAft>
                <a:spcPts val="1400"/>
              </a:spcAft>
            </a:pPr>
            <a:r>
              <a:rPr sz="1300" b="0" i="0">
                <a:solidFill>
                  <a:srgbClr val="333333"/>
                </a:solidFill>
                <a:latin typeface="Calibri"/>
              </a:rPr>
              <a:t>• [2] K. He, X. Zhang, S. Ren, J. Sun, “Deep residual learning for image recognition,” in Proc. IEEE CVPR, 2016, pp. 770–778.</a:t>
            </a:r>
            <a:endParaRPr sz="1300" b="0" i="0">
              <a:solidFill>
                <a:srgbClr val="333333"/>
              </a:solidFill>
              <a:latin typeface="Calibri"/>
            </a:endParaRPr>
          </a:p>
          <a:p>
            <a:pPr>
              <a:lnSpc>
                <a:spcPct val="105000"/>
              </a:lnSpc>
              <a:spcAft>
                <a:spcPts val="1400"/>
              </a:spcAft>
            </a:pPr>
            <a:r>
              <a:rPr sz="1300" b="0" i="0">
                <a:solidFill>
                  <a:srgbClr val="333333"/>
                </a:solidFill>
                <a:latin typeface="Calibri"/>
              </a:rPr>
              <a:t>• [3] O. Ronneberger, P. Fischer, T. Brox, “U-Net: Convolutional networks for biomedical image segmentation,” in MICCAI, Springer, 2015, pp. 234–241.</a:t>
            </a:r>
            <a:endParaRPr sz="1300" b="0" i="0">
              <a:solidFill>
                <a:srgbClr val="333333"/>
              </a:solidFill>
              <a:latin typeface="Calibri"/>
            </a:endParaRPr>
          </a:p>
          <a:p>
            <a:pPr>
              <a:lnSpc>
                <a:spcPct val="105000"/>
              </a:lnSpc>
              <a:spcAft>
                <a:spcPts val="1400"/>
              </a:spcAft>
            </a:pPr>
            <a:r>
              <a:rPr sz="1300" b="0" i="0">
                <a:solidFill>
                  <a:srgbClr val="333333"/>
                </a:solidFill>
                <a:latin typeface="Calibri"/>
              </a:rPr>
              <a:t>• [4] Z. Zhang, Q. Liu, Y. Wang, “Road extraction by deep residual U-Net,” IEEE Geosci. Remote Sens. Lett., vol. 15, no. 5, pp. 749–753, 2018.</a:t>
            </a:r>
            <a:endParaRPr sz="1300" b="0" i="0">
              <a:solidFill>
                <a:srgbClr val="333333"/>
              </a:solidFill>
              <a:latin typeface="Calibri"/>
            </a:endParaRPr>
          </a:p>
          <a:p>
            <a:pPr>
              <a:lnSpc>
                <a:spcPct val="105000"/>
              </a:lnSpc>
              <a:spcAft>
                <a:spcPts val="1400"/>
              </a:spcAft>
            </a:pPr>
            <a:r>
              <a:rPr sz="1300" b="0" i="0">
                <a:solidFill>
                  <a:srgbClr val="333333"/>
                </a:solidFill>
                <a:latin typeface="Calibri"/>
              </a:rPr>
              <a:t>• [5] J. Deng et al., “ImageNet: A large-scale hierarchical image database,” in Proc. IEEE CVPR, 2009, pp. 248–255.</a:t>
            </a:r>
            <a:endParaRPr sz="1300" b="0" i="0">
              <a:solidFill>
                <a:srgbClr val="333333"/>
              </a:solidFill>
              <a:latin typeface="Calibri"/>
            </a:endParaRPr>
          </a:p>
          <a:p>
            <a:pPr>
              <a:lnSpc>
                <a:spcPct val="105000"/>
              </a:lnSpc>
              <a:spcAft>
                <a:spcPts val="1400"/>
              </a:spcAft>
            </a:pPr>
            <a:r>
              <a:rPr sz="1300" b="0" i="0">
                <a:solidFill>
                  <a:srgbClr val="333333"/>
                </a:solidFill>
                <a:latin typeface="Calibri"/>
              </a:rPr>
              <a:t>• [6] N. Abraham, N. M. Khan, “A novel focal Tversky loss function with improved attention U-Net for lesion segmentation,” in IEEE ISBI, 2019, pp. 683–687.</a:t>
            </a:r>
            <a:endParaRPr sz="1300" b="0" i="0">
              <a:solidFill>
                <a:srgbClr val="333333"/>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439199-13A3-489C-BE19-7EAAD26BD407}" type="datetime1">
              <a:rPr lang="en-IN" smtClean="0"/>
            </a:fld>
            <a:endParaRPr lang="en-IN"/>
          </a:p>
        </p:txBody>
      </p:sp>
      <p:sp>
        <p:nvSpPr>
          <p:cNvPr id="3" name="Footer Placeholder 2"/>
          <p:cNvSpPr>
            <a:spLocks noGrp="1"/>
          </p:cNvSpPr>
          <p:nvPr>
            <p:ph type="ftr" sz="quarter" idx="11"/>
          </p:nvPr>
        </p:nvSpPr>
        <p:spPr/>
        <p:txBody>
          <a:bodyPr/>
          <a:lstStyle/>
          <a:p>
            <a:r>
              <a:rPr lang="en-US"/>
              <a:t>School of Electrical Engineering, MIT, Manipal</a:t>
            </a:r>
            <a:endParaRPr lang="en-IN"/>
          </a:p>
        </p:txBody>
      </p:sp>
      <p:sp>
        <p:nvSpPr>
          <p:cNvPr id="4" name="Slide Number Placeholder 3"/>
          <p:cNvSpPr>
            <a:spLocks noGrp="1"/>
          </p:cNvSpPr>
          <p:nvPr>
            <p:ph type="sldNum" sz="quarter" idx="12"/>
          </p:nvPr>
        </p:nvSpPr>
        <p:spPr/>
        <p:txBody>
          <a:bodyPr/>
          <a:lstStyle/>
          <a:p>
            <a:fld id="{9A621F9B-DC96-4211-830F-F4FD83FDAB92}" type="slidenum">
              <a:rPr lang="en-IN" smtClean="0"/>
            </a:fld>
            <a:endParaRPr lang="en-IN"/>
          </a:p>
        </p:txBody>
      </p:sp>
      <p:sp>
        <p:nvSpPr>
          <p:cNvPr id="6" name="TextBox 5"/>
          <p:cNvSpPr txBox="1"/>
          <p:nvPr/>
        </p:nvSpPr>
        <p:spPr>
          <a:xfrm>
            <a:off x="1371600" y="2728595"/>
            <a:ext cx="9418320" cy="1188720"/>
          </a:xfrm>
          <a:prstGeom prst="rect">
            <a:avLst/>
          </a:prstGeom>
          <a:noFill/>
        </p:spPr>
        <p:txBody>
          <a:bodyPr wrap="square">
            <a:spAutoFit/>
          </a:bodyPr>
          <a:lstStyle/>
          <a:p>
            <a:pPr algn="ctr"/>
            <a:r>
              <a:rPr sz="4800" b="1" i="0">
                <a:solidFill>
                  <a:srgbClr val="BD582C"/>
                </a:solidFill>
                <a:latin typeface="Calibri"/>
              </a:rPr>
              <a:t>Thank You</a:t>
            </a:r>
            <a:endParaRPr sz="4800" b="1" i="0">
              <a:solidFill>
                <a:srgbClr val="BD582C"/>
              </a:solidFill>
              <a:latin typeface="Calibri"/>
            </a:endParaRPr>
          </a:p>
        </p:txBody>
      </p:sp>
      <p:sp>
        <p:nvSpPr>
          <p:cNvPr id="7" name="TextBox 6"/>
          <p:cNvSpPr txBox="1"/>
          <p:nvPr/>
        </p:nvSpPr>
        <p:spPr>
          <a:xfrm>
            <a:off x="1371600" y="3566160"/>
            <a:ext cx="9418320" cy="1463040"/>
          </a:xfrm>
          <a:prstGeom prst="rect">
            <a:avLst/>
          </a:prstGeom>
          <a:noFill/>
        </p:spPr>
        <p:txBody>
          <a:bodyPr wrap="square">
            <a:spAutoFit/>
          </a:bodyPr>
          <a:lstStyle/>
          <a:p>
            <a:pPr algn="ctr"/>
            <a:r>
              <a:rPr sz="2000" b="0" i="1">
                <a:solidFill>
                  <a:srgbClr val="333333"/>
                </a:solidFill>
                <a:latin typeface="Calibri"/>
              </a:rPr>
              <a:t>Questions &amp; Suggestions are welcome</a:t>
            </a:r>
            <a:endParaRPr sz="2000" b="0" i="1">
              <a:solidFill>
                <a:srgbClr val="333333"/>
              </a:solidFill>
              <a:latin typeface="Calibri"/>
            </a:endParaRPr>
          </a:p>
          <a:p>
            <a:pPr algn="ctr"/>
            <a:r>
              <a:rPr sz="1600" b="0" i="0">
                <a:solidFill>
                  <a:srgbClr val="666666"/>
                </a:solidFill>
                <a:latin typeface="Calibri"/>
              </a:rPr>
              <a:t>Darshan Suresh  |  darshansuresh1804@gmail.com</a:t>
            </a:r>
            <a:endParaRPr sz="1600" b="0" i="0">
              <a:solidFill>
                <a:srgbClr val="666666"/>
              </a:solidFill>
              <a:latin typeface="Calibri"/>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8485</Words>
  <Application>WPS Presentation</Application>
  <PresentationFormat>Widescreen</PresentationFormat>
  <Paragraphs>335</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Calibri</vt:lpstr>
      <vt:lpstr>Helvetica Neue</vt:lpstr>
      <vt:lpstr>Calibri</vt:lpstr>
      <vt:lpstr>Calibri Light</vt:lpstr>
      <vt:lpstr>Microsoft YaHei</vt:lpstr>
      <vt:lpstr>汉仪旗黑</vt:lpstr>
      <vt:lpstr>Arial Unicode MS</vt:lpstr>
      <vt:lpstr>汉仪书宋二KW</vt:lpstr>
      <vt:lpstr>Retrospect</vt:lpstr>
      <vt:lpstr>XXIII CISCON2026</vt:lpstr>
      <vt:lpstr>Content</vt:lpstr>
      <vt:lpstr>Introduction</vt:lpstr>
      <vt:lpstr>Literature Summary</vt:lpstr>
      <vt:lpstr>Objectives of the Research Work</vt:lpstr>
      <vt:lpstr>Methodology – Proposed Two-Stage Framework</vt:lpstr>
      <vt:lpstr>Methodology – Dataset, Preprocessing &amp; Augmentation</vt:lpstr>
      <vt:lpstr>Methodology – Model Design &amp; Training Configuration</vt:lpstr>
      <vt:lpstr>Experimental Results &amp; Performance</vt:lpstr>
      <vt:lpstr>Experimental Results &amp; Performance</vt:lpstr>
      <vt:lpstr>Comparison with Existing Methods</vt:lpstr>
      <vt:lpstr>Significant Outcome of the Research</vt:lpstr>
      <vt:lpstr>Conclusion and Future Scope</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Dhanya Sunil [MAHE-MIT]</dc:creator>
  <cp:lastModifiedBy>Darshan Suresh</cp:lastModifiedBy>
  <cp:revision>129</cp:revision>
  <dcterms:created xsi:type="dcterms:W3CDTF">2026-08-07T09:24:59Z</dcterms:created>
  <dcterms:modified xsi:type="dcterms:W3CDTF">2026-08-07T09:24:59Z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1033-12.1.25897.25897</vt:lpwstr>
  </property>
  <property fmtid="{D5CDD505-2E9C-101B-9397-08002B2CF9AE}" pid="3" name="ICV">
    <vt:lpwstr>024150A2F5CB15D6BAA3756A534CEBA6_42</vt:lpwstr>
  </property>
</Properties>
</file>